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5" r:id="rId1"/>
  </p:sldMasterIdLst>
  <p:notesMasterIdLst>
    <p:notesMasterId r:id="rId35"/>
  </p:notesMasterIdLst>
  <p:sldIdLst>
    <p:sldId id="256" r:id="rId2"/>
    <p:sldId id="281" r:id="rId3"/>
    <p:sldId id="280" r:id="rId4"/>
    <p:sldId id="259" r:id="rId5"/>
    <p:sldId id="279" r:id="rId6"/>
    <p:sldId id="282" r:id="rId7"/>
    <p:sldId id="283" r:id="rId8"/>
    <p:sldId id="258" r:id="rId9"/>
    <p:sldId id="284" r:id="rId10"/>
    <p:sldId id="305" r:id="rId11"/>
    <p:sldId id="285" r:id="rId12"/>
    <p:sldId id="286" r:id="rId13"/>
    <p:sldId id="287" r:id="rId14"/>
    <p:sldId id="306" r:id="rId15"/>
    <p:sldId id="288" r:id="rId16"/>
    <p:sldId id="289" r:id="rId17"/>
    <p:sldId id="290" r:id="rId18"/>
    <p:sldId id="307"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276" r:id="rId34"/>
  </p:sldIdLst>
  <p:sldSz cx="9144000" cy="5143500" type="screen16x9"/>
  <p:notesSz cx="6858000" cy="9144000"/>
  <p:embeddedFontLst>
    <p:embeddedFont>
      <p:font typeface="Inter" panose="020B0604020202020204" charset="0"/>
      <p:regular r:id="rId36"/>
      <p:bold r:id="rId37"/>
      <p:italic r:id="rId38"/>
      <p:boldItalic r:id="rId39"/>
    </p:embeddedFont>
    <p:embeddedFont>
      <p:font typeface="Nunito Light" pitchFamily="2" charset="0"/>
      <p:regular r:id="rId40"/>
      <p:italic r:id="rId41"/>
    </p:embeddedFont>
    <p:embeddedFont>
      <p:font typeface="Raleway" pitchFamily="2" charset="0"/>
      <p:regular r:id="rId42"/>
      <p:bold r:id="rId43"/>
      <p:italic r:id="rId44"/>
      <p:boldItalic r:id="rId45"/>
    </p:embeddedFont>
    <p:embeddedFont>
      <p:font typeface="Raleway Light" pitchFamily="2"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E1AE28-C92E-4018-B361-92B2406BF72D}">
  <a:tblStyle styleId="{C1E1AE28-C92E-4018-B361-92B2406BF72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7CBC308-116E-4A1F-A9C7-3CBC44068CB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1210" y="14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1:23.82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0,'712'0'0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1:27.69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 0,'2301'0'0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2:39.98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0,'712'0'0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2:45.12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0,'712'0'0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2:50.25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0,'712'0'0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9T13:52:54.44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 0,'1032'0'0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5:00:57.17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608 15 0,'-607'-14'0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5:01:08.28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593 15 0,'-593'-14'0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5:01:13.49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1032 0,'-537'0,"527"1,0 0,1 1,-1 0,0 0,-12 6,-34 6,-18-2,37-6,-1-1,-39-1,-59-4,130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5:01:16.05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790 2,'-325'11,"276"-8,0-2,0-2,-60-10,75 8,-1 1,-37 3,17 0,43-1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5:01:19.62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1221 32,'-39'1,"21"0,-1 0,1-2,-1 0,1-1,-1-1,-31-9,38 8,0 1,-1 0,1 1,-1 0,0 1,-21 1,-81 11,59-4,-73 21,71-21,-66 0,-271-8,370 4,16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5:01:25.84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1495 30,'-317'-11,"279"9,1 2,-1 1,-44 8,45-5,-1-2,1-1,-46-5,-3-10,61 8,0 2,-43-2,-503 7,559-1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5:01:31.92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69" name="Google Shape;26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8BA09BE4-A2FD-F957-9569-B93426EABFEC}"/>
            </a:ext>
          </a:extLst>
        </p:cNvPr>
        <p:cNvGrpSpPr/>
        <p:nvPr/>
      </p:nvGrpSpPr>
      <p:grpSpPr>
        <a:xfrm>
          <a:off x="0" y="0"/>
          <a:ext cx="0" cy="0"/>
          <a:chOff x="0" y="0"/>
          <a:chExt cx="0" cy="0"/>
        </a:xfrm>
      </p:grpSpPr>
      <p:sp>
        <p:nvSpPr>
          <p:cNvPr id="309" name="Google Shape;309;g2dd20c7b4f1_0_0:notes">
            <a:extLst>
              <a:ext uri="{FF2B5EF4-FFF2-40B4-BE49-F238E27FC236}">
                <a16:creationId xmlns:a16="http://schemas.microsoft.com/office/drawing/2014/main" id="{26289B74-F2E4-B907-93DA-5AB5E8E3F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0" name="Google Shape;310;g2dd20c7b4f1_0_0:notes">
            <a:extLst>
              <a:ext uri="{FF2B5EF4-FFF2-40B4-BE49-F238E27FC236}">
                <a16:creationId xmlns:a16="http://schemas.microsoft.com/office/drawing/2014/main" id="{88781A42-EDA7-BD3D-9888-F3583EBDC9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3857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dd20c7b4f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0" name="Google Shape;310;g2dd20c7b4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C242EA30-461E-E88B-6455-90EC1E4C2634}"/>
            </a:ext>
          </a:extLst>
        </p:cNvPr>
        <p:cNvGrpSpPr/>
        <p:nvPr/>
      </p:nvGrpSpPr>
      <p:grpSpPr>
        <a:xfrm>
          <a:off x="0" y="0"/>
          <a:ext cx="0" cy="0"/>
          <a:chOff x="0" y="0"/>
          <a:chExt cx="0" cy="0"/>
        </a:xfrm>
      </p:grpSpPr>
      <p:sp>
        <p:nvSpPr>
          <p:cNvPr id="309" name="Google Shape;309;g2dd20c7b4f1_0_0:notes">
            <a:extLst>
              <a:ext uri="{FF2B5EF4-FFF2-40B4-BE49-F238E27FC236}">
                <a16:creationId xmlns:a16="http://schemas.microsoft.com/office/drawing/2014/main" id="{C9D57E5D-B2A7-30C9-A311-CFC1D34854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0" name="Google Shape;310;g2dd20c7b4f1_0_0:notes">
            <a:extLst>
              <a:ext uri="{FF2B5EF4-FFF2-40B4-BE49-F238E27FC236}">
                <a16:creationId xmlns:a16="http://schemas.microsoft.com/office/drawing/2014/main" id="{BC02EFA2-0279-0FF2-5B06-5244618F7F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236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565D625A-16CC-5587-9B7C-8A9304B44AB8}"/>
            </a:ext>
          </a:extLst>
        </p:cNvPr>
        <p:cNvGrpSpPr/>
        <p:nvPr/>
      </p:nvGrpSpPr>
      <p:grpSpPr>
        <a:xfrm>
          <a:off x="0" y="0"/>
          <a:ext cx="0" cy="0"/>
          <a:chOff x="0" y="0"/>
          <a:chExt cx="0" cy="0"/>
        </a:xfrm>
      </p:grpSpPr>
      <p:sp>
        <p:nvSpPr>
          <p:cNvPr id="309" name="Google Shape;309;g2dd20c7b4f1_0_0:notes">
            <a:extLst>
              <a:ext uri="{FF2B5EF4-FFF2-40B4-BE49-F238E27FC236}">
                <a16:creationId xmlns:a16="http://schemas.microsoft.com/office/drawing/2014/main" id="{952A72F1-1322-1821-AF51-FC489C6422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0" name="Google Shape;310;g2dd20c7b4f1_0_0:notes">
            <a:extLst>
              <a:ext uri="{FF2B5EF4-FFF2-40B4-BE49-F238E27FC236}">
                <a16:creationId xmlns:a16="http://schemas.microsoft.com/office/drawing/2014/main" id="{66DC5AD5-7682-72E1-4B9C-4D69051DB1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565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89" name="Google Shape;28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3" name="Google Shape;653;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23008" y="-2215775"/>
            <a:ext cx="14556557" cy="10211427"/>
            <a:chOff x="-3223008" y="-2215775"/>
            <a:chExt cx="14556557" cy="10211427"/>
          </a:xfrm>
        </p:grpSpPr>
        <p:pic>
          <p:nvPicPr>
            <p:cNvPr id="10" name="Google Shape;10;p2"/>
            <p:cNvPicPr preferRelativeResize="0"/>
            <p:nvPr/>
          </p:nvPicPr>
          <p:blipFill>
            <a:blip r:embed="rId2">
              <a:alphaModFix/>
            </a:blip>
            <a:stretch>
              <a:fillRect/>
            </a:stretch>
          </p:blipFill>
          <p:spPr>
            <a:xfrm rot="1776129">
              <a:off x="5398439" y="-990361"/>
              <a:ext cx="5655472" cy="2626522"/>
            </a:xfrm>
            <a:prstGeom prst="rect">
              <a:avLst/>
            </a:prstGeom>
            <a:noFill/>
            <a:ln>
              <a:noFill/>
            </a:ln>
          </p:spPr>
        </p:pic>
        <p:pic>
          <p:nvPicPr>
            <p:cNvPr id="11" name="Google Shape;11;p2"/>
            <p:cNvPicPr preferRelativeResize="0"/>
            <p:nvPr/>
          </p:nvPicPr>
          <p:blipFill>
            <a:blip r:embed="rId3">
              <a:alphaModFix/>
            </a:blip>
            <a:stretch>
              <a:fillRect/>
            </a:stretch>
          </p:blipFill>
          <p:spPr>
            <a:xfrm rot="1180232">
              <a:off x="-2566982" y="1792900"/>
              <a:ext cx="7185315" cy="5143501"/>
            </a:xfrm>
            <a:prstGeom prst="rect">
              <a:avLst/>
            </a:prstGeom>
            <a:noFill/>
            <a:ln>
              <a:noFill/>
            </a:ln>
          </p:spPr>
        </p:pic>
      </p:grpSp>
      <p:sp>
        <p:nvSpPr>
          <p:cNvPr id="12" name="Google Shape;12;p2"/>
          <p:cNvSpPr/>
          <p:nvPr/>
        </p:nvSpPr>
        <p:spPr>
          <a:xfrm>
            <a:off x="233100" y="252900"/>
            <a:ext cx="8677800" cy="463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13" name="Google Shape;13;p2"/>
          <p:cNvSpPr txBox="1">
            <a:spLocks noGrp="1"/>
          </p:cNvSpPr>
          <p:nvPr>
            <p:ph type="ctrTitle"/>
          </p:nvPr>
        </p:nvSpPr>
        <p:spPr>
          <a:xfrm>
            <a:off x="619500" y="1191425"/>
            <a:ext cx="7905000" cy="20319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6000"/>
              <a:buNone/>
              <a:defRPr sz="6000" b="0"/>
            </a:lvl1pPr>
            <a:lvl2pPr lvl="1" algn="ctr">
              <a:spcBef>
                <a:spcPts val="0"/>
              </a:spcBef>
              <a:spcAft>
                <a:spcPts val="0"/>
              </a:spcAft>
              <a:buClr>
                <a:srgbClr val="191919"/>
              </a:buClr>
              <a:buSzPts val="6000"/>
              <a:buNone/>
              <a:defRPr sz="6000">
                <a:solidFill>
                  <a:srgbClr val="191919"/>
                </a:solidFill>
              </a:defRPr>
            </a:lvl2pPr>
            <a:lvl3pPr lvl="2" algn="ctr">
              <a:spcBef>
                <a:spcPts val="0"/>
              </a:spcBef>
              <a:spcAft>
                <a:spcPts val="0"/>
              </a:spcAft>
              <a:buClr>
                <a:srgbClr val="191919"/>
              </a:buClr>
              <a:buSzPts val="6000"/>
              <a:buNone/>
              <a:defRPr sz="6000">
                <a:solidFill>
                  <a:srgbClr val="191919"/>
                </a:solidFill>
              </a:defRPr>
            </a:lvl3pPr>
            <a:lvl4pPr lvl="3" algn="ctr">
              <a:spcBef>
                <a:spcPts val="0"/>
              </a:spcBef>
              <a:spcAft>
                <a:spcPts val="0"/>
              </a:spcAft>
              <a:buClr>
                <a:srgbClr val="191919"/>
              </a:buClr>
              <a:buSzPts val="6000"/>
              <a:buNone/>
              <a:defRPr sz="6000">
                <a:solidFill>
                  <a:srgbClr val="191919"/>
                </a:solidFill>
              </a:defRPr>
            </a:lvl4pPr>
            <a:lvl5pPr lvl="4" algn="ctr">
              <a:spcBef>
                <a:spcPts val="0"/>
              </a:spcBef>
              <a:spcAft>
                <a:spcPts val="0"/>
              </a:spcAft>
              <a:buClr>
                <a:srgbClr val="191919"/>
              </a:buClr>
              <a:buSzPts val="6000"/>
              <a:buNone/>
              <a:defRPr sz="6000">
                <a:solidFill>
                  <a:srgbClr val="191919"/>
                </a:solidFill>
              </a:defRPr>
            </a:lvl5pPr>
            <a:lvl6pPr lvl="5" algn="ctr">
              <a:spcBef>
                <a:spcPts val="0"/>
              </a:spcBef>
              <a:spcAft>
                <a:spcPts val="0"/>
              </a:spcAft>
              <a:buClr>
                <a:srgbClr val="191919"/>
              </a:buClr>
              <a:buSzPts val="6000"/>
              <a:buNone/>
              <a:defRPr sz="6000">
                <a:solidFill>
                  <a:srgbClr val="191919"/>
                </a:solidFill>
              </a:defRPr>
            </a:lvl6pPr>
            <a:lvl7pPr lvl="6" algn="ctr">
              <a:spcBef>
                <a:spcPts val="0"/>
              </a:spcBef>
              <a:spcAft>
                <a:spcPts val="0"/>
              </a:spcAft>
              <a:buClr>
                <a:srgbClr val="191919"/>
              </a:buClr>
              <a:buSzPts val="6000"/>
              <a:buNone/>
              <a:defRPr sz="6000">
                <a:solidFill>
                  <a:srgbClr val="191919"/>
                </a:solidFill>
              </a:defRPr>
            </a:lvl7pPr>
            <a:lvl8pPr lvl="7" algn="ctr">
              <a:spcBef>
                <a:spcPts val="0"/>
              </a:spcBef>
              <a:spcAft>
                <a:spcPts val="0"/>
              </a:spcAft>
              <a:buClr>
                <a:srgbClr val="191919"/>
              </a:buClr>
              <a:buSzPts val="6000"/>
              <a:buNone/>
              <a:defRPr sz="6000">
                <a:solidFill>
                  <a:srgbClr val="191919"/>
                </a:solidFill>
              </a:defRPr>
            </a:lvl8pPr>
            <a:lvl9pPr lvl="8" algn="ctr">
              <a:spcBef>
                <a:spcPts val="0"/>
              </a:spcBef>
              <a:spcAft>
                <a:spcPts val="0"/>
              </a:spcAft>
              <a:buClr>
                <a:srgbClr val="191919"/>
              </a:buClr>
              <a:buSzPts val="6000"/>
              <a:buNone/>
              <a:defRPr sz="6000">
                <a:solidFill>
                  <a:srgbClr val="191919"/>
                </a:solidFill>
              </a:defRPr>
            </a:lvl9pPr>
          </a:lstStyle>
          <a:p>
            <a:endParaRPr/>
          </a:p>
        </p:txBody>
      </p:sp>
      <p:sp>
        <p:nvSpPr>
          <p:cNvPr id="14" name="Google Shape;14;p2"/>
          <p:cNvSpPr txBox="1">
            <a:spLocks noGrp="1"/>
          </p:cNvSpPr>
          <p:nvPr>
            <p:ph type="subTitle" idx="1"/>
          </p:nvPr>
        </p:nvSpPr>
        <p:spPr>
          <a:xfrm>
            <a:off x="1830450" y="3712375"/>
            <a:ext cx="5483100" cy="43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2"/>
        <p:cNvGrpSpPr/>
        <p:nvPr/>
      </p:nvGrpSpPr>
      <p:grpSpPr>
        <a:xfrm>
          <a:off x="0" y="0"/>
          <a:ext cx="0" cy="0"/>
          <a:chOff x="0" y="0"/>
          <a:chExt cx="0" cy="0"/>
        </a:xfrm>
      </p:grpSpPr>
      <p:grpSp>
        <p:nvGrpSpPr>
          <p:cNvPr id="53" name="Google Shape;53;p7"/>
          <p:cNvGrpSpPr/>
          <p:nvPr/>
        </p:nvGrpSpPr>
        <p:grpSpPr>
          <a:xfrm>
            <a:off x="4603568" y="-2592501"/>
            <a:ext cx="8123095" cy="8341702"/>
            <a:chOff x="4260143" y="-2592501"/>
            <a:chExt cx="8123095" cy="8341702"/>
          </a:xfrm>
        </p:grpSpPr>
        <p:pic>
          <p:nvPicPr>
            <p:cNvPr id="54" name="Google Shape;54;p7"/>
            <p:cNvPicPr preferRelativeResize="0"/>
            <p:nvPr/>
          </p:nvPicPr>
          <p:blipFill>
            <a:blip r:embed="rId2">
              <a:alphaModFix/>
            </a:blip>
            <a:stretch>
              <a:fillRect/>
            </a:stretch>
          </p:blipFill>
          <p:spPr>
            <a:xfrm rot="4001898">
              <a:off x="3921136" y="361618"/>
              <a:ext cx="3811483" cy="1770122"/>
            </a:xfrm>
            <a:prstGeom prst="rect">
              <a:avLst/>
            </a:prstGeom>
            <a:noFill/>
            <a:ln>
              <a:noFill/>
            </a:ln>
          </p:spPr>
        </p:pic>
        <p:pic>
          <p:nvPicPr>
            <p:cNvPr id="55" name="Google Shape;55;p7"/>
            <p:cNvPicPr preferRelativeResize="0"/>
            <p:nvPr/>
          </p:nvPicPr>
          <p:blipFill>
            <a:blip r:embed="rId3">
              <a:alphaModFix/>
            </a:blip>
            <a:stretch>
              <a:fillRect/>
            </a:stretch>
          </p:blipFill>
          <p:spPr>
            <a:xfrm rot="3430132">
              <a:off x="5126443" y="-993400"/>
              <a:ext cx="6608665" cy="5143500"/>
            </a:xfrm>
            <a:prstGeom prst="rect">
              <a:avLst/>
            </a:prstGeom>
            <a:noFill/>
            <a:ln>
              <a:noFill/>
            </a:ln>
          </p:spPr>
        </p:pic>
      </p:grpSp>
      <p:sp>
        <p:nvSpPr>
          <p:cNvPr id="56" name="Google Shape;56;p7"/>
          <p:cNvSpPr txBox="1">
            <a:spLocks noGrp="1"/>
          </p:cNvSpPr>
          <p:nvPr>
            <p:ph type="title"/>
          </p:nvPr>
        </p:nvSpPr>
        <p:spPr>
          <a:xfrm>
            <a:off x="713225" y="1129450"/>
            <a:ext cx="4160700" cy="646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7" name="Google Shape;57;p7"/>
          <p:cNvSpPr txBox="1">
            <a:spLocks noGrp="1"/>
          </p:cNvSpPr>
          <p:nvPr>
            <p:ph type="subTitle" idx="1"/>
          </p:nvPr>
        </p:nvSpPr>
        <p:spPr>
          <a:xfrm>
            <a:off x="713225" y="1910450"/>
            <a:ext cx="4160700" cy="210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Raleway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58" name="Google Shape;58;p7"/>
          <p:cNvSpPr>
            <a:spLocks noGrp="1"/>
          </p:cNvSpPr>
          <p:nvPr>
            <p:ph type="pic" idx="2"/>
          </p:nvPr>
        </p:nvSpPr>
        <p:spPr>
          <a:xfrm>
            <a:off x="5827325" y="539550"/>
            <a:ext cx="2787000" cy="4064400"/>
          </a:xfrm>
          <a:prstGeom prst="rect">
            <a:avLst/>
          </a:prstGeom>
          <a:noFill/>
          <a:ln w="9525" cap="flat" cmpd="sng">
            <a:solidFill>
              <a:schemeClr val="dk1"/>
            </a:solidFill>
            <a:prstDash val="solid"/>
            <a:round/>
            <a:headEnd type="none" w="sm" len="sm"/>
            <a:tailEnd type="none" w="sm" len="sm"/>
          </a:ln>
        </p:spPr>
        <p:txBody>
          <a:bodyPr/>
          <a:lstStyle/>
          <a:p>
            <a:endParaRPr lang="en-US"/>
          </a:p>
        </p:txBody>
      </p:sp>
      <p:grpSp>
        <p:nvGrpSpPr>
          <p:cNvPr id="59" name="Google Shape;59;p7"/>
          <p:cNvGrpSpPr/>
          <p:nvPr/>
        </p:nvGrpSpPr>
        <p:grpSpPr>
          <a:xfrm>
            <a:off x="226225" y="4734650"/>
            <a:ext cx="974000" cy="227100"/>
            <a:chOff x="415725" y="425950"/>
            <a:chExt cx="974000" cy="227100"/>
          </a:xfrm>
        </p:grpSpPr>
        <p:sp>
          <p:nvSpPr>
            <p:cNvPr id="60" name="Google Shape;60;p7"/>
            <p:cNvSpPr/>
            <p:nvPr/>
          </p:nvSpPr>
          <p:spPr>
            <a:xfrm>
              <a:off x="4157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61" name="Google Shape;61;p7"/>
            <p:cNvSpPr/>
            <p:nvPr/>
          </p:nvSpPr>
          <p:spPr>
            <a:xfrm>
              <a:off x="78917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62" name="Google Shape;62;p7"/>
            <p:cNvSpPr/>
            <p:nvPr/>
          </p:nvSpPr>
          <p:spPr>
            <a:xfrm>
              <a:off x="11626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pic>
        <p:nvPicPr>
          <p:cNvPr id="64" name="Google Shape;64;p8"/>
          <p:cNvPicPr preferRelativeResize="0"/>
          <p:nvPr/>
        </p:nvPicPr>
        <p:blipFill>
          <a:blip r:embed="rId2">
            <a:alphaModFix/>
          </a:blip>
          <a:stretch>
            <a:fillRect/>
          </a:stretch>
        </p:blipFill>
        <p:spPr>
          <a:xfrm rot="-1180232" flipH="1">
            <a:off x="4983783" y="1865850"/>
            <a:ext cx="7185315" cy="5143501"/>
          </a:xfrm>
          <a:prstGeom prst="rect">
            <a:avLst/>
          </a:prstGeom>
          <a:noFill/>
          <a:ln>
            <a:noFill/>
          </a:ln>
        </p:spPr>
      </p:pic>
      <p:sp>
        <p:nvSpPr>
          <p:cNvPr id="65" name="Google Shape;65;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
        <p:cNvGrpSpPr/>
        <p:nvPr/>
      </p:nvGrpSpPr>
      <p:grpSpPr>
        <a:xfrm>
          <a:off x="0" y="0"/>
          <a:ext cx="0" cy="0"/>
          <a:chOff x="0" y="0"/>
          <a:chExt cx="0" cy="0"/>
        </a:xfrm>
      </p:grpSpPr>
      <p:grpSp>
        <p:nvGrpSpPr>
          <p:cNvPr id="67" name="Google Shape;67;p9"/>
          <p:cNvGrpSpPr/>
          <p:nvPr/>
        </p:nvGrpSpPr>
        <p:grpSpPr>
          <a:xfrm>
            <a:off x="-3528300" y="-3099700"/>
            <a:ext cx="15963524" cy="11225150"/>
            <a:chOff x="-3528300" y="-3099700"/>
            <a:chExt cx="15963524" cy="11225150"/>
          </a:xfrm>
        </p:grpSpPr>
        <p:pic>
          <p:nvPicPr>
            <p:cNvPr id="68" name="Google Shape;68;p9"/>
            <p:cNvPicPr preferRelativeResize="0"/>
            <p:nvPr/>
          </p:nvPicPr>
          <p:blipFill>
            <a:blip r:embed="rId2">
              <a:alphaModFix/>
            </a:blip>
            <a:stretch>
              <a:fillRect/>
            </a:stretch>
          </p:blipFill>
          <p:spPr>
            <a:xfrm rot="3430134">
              <a:off x="6535544" y="-1799650"/>
              <a:ext cx="5372760" cy="4181599"/>
            </a:xfrm>
            <a:prstGeom prst="rect">
              <a:avLst/>
            </a:prstGeom>
            <a:noFill/>
            <a:ln>
              <a:noFill/>
            </a:ln>
          </p:spPr>
        </p:pic>
        <p:pic>
          <p:nvPicPr>
            <p:cNvPr id="69" name="Google Shape;69;p9"/>
            <p:cNvPicPr preferRelativeResize="0"/>
            <p:nvPr/>
          </p:nvPicPr>
          <p:blipFill>
            <a:blip r:embed="rId2">
              <a:alphaModFix/>
            </a:blip>
            <a:stretch>
              <a:fillRect/>
            </a:stretch>
          </p:blipFill>
          <p:spPr>
            <a:xfrm rot="3430134">
              <a:off x="-3001381" y="2643800"/>
              <a:ext cx="5372760" cy="4181599"/>
            </a:xfrm>
            <a:prstGeom prst="rect">
              <a:avLst/>
            </a:prstGeom>
            <a:noFill/>
            <a:ln>
              <a:noFill/>
            </a:ln>
          </p:spPr>
        </p:pic>
      </p:grpSp>
      <p:sp>
        <p:nvSpPr>
          <p:cNvPr id="70" name="Google Shape;70;p9"/>
          <p:cNvSpPr txBox="1">
            <a:spLocks noGrp="1"/>
          </p:cNvSpPr>
          <p:nvPr>
            <p:ph type="title"/>
          </p:nvPr>
        </p:nvSpPr>
        <p:spPr>
          <a:xfrm>
            <a:off x="1370400" y="944100"/>
            <a:ext cx="6403200" cy="119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1" name="Google Shape;71;p9"/>
          <p:cNvSpPr txBox="1">
            <a:spLocks noGrp="1"/>
          </p:cNvSpPr>
          <p:nvPr>
            <p:ph type="subTitle" idx="1"/>
          </p:nvPr>
        </p:nvSpPr>
        <p:spPr>
          <a:xfrm>
            <a:off x="2135550" y="2375100"/>
            <a:ext cx="4872900" cy="136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10"/>
          <p:cNvSpPr>
            <a:spLocks noGrp="1"/>
          </p:cNvSpPr>
          <p:nvPr>
            <p:ph type="pic" idx="2"/>
          </p:nvPr>
        </p:nvSpPr>
        <p:spPr>
          <a:xfrm>
            <a:off x="8100" y="0"/>
            <a:ext cx="9144000" cy="5143500"/>
          </a:xfrm>
          <a:prstGeom prst="rect">
            <a:avLst/>
          </a:prstGeom>
          <a:noFill/>
          <a:ln>
            <a:noFill/>
          </a:ln>
        </p:spPr>
        <p:txBody>
          <a:bodyPr/>
          <a:lstStyle/>
          <a:p>
            <a:endParaRPr lang="en-US"/>
          </a:p>
        </p:txBody>
      </p:sp>
      <p:sp>
        <p:nvSpPr>
          <p:cNvPr id="74" name="Google Shape;74;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720000" y="445025"/>
            <a:ext cx="7704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13"/>
          <p:cNvSpPr txBox="1">
            <a:spLocks noGrp="1"/>
          </p:cNvSpPr>
          <p:nvPr>
            <p:ph type="title" idx="2" hasCustomPrompt="1"/>
          </p:nvPr>
        </p:nvSpPr>
        <p:spPr>
          <a:xfrm>
            <a:off x="719990" y="1485883"/>
            <a:ext cx="640200" cy="640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title" idx="3" hasCustomPrompt="1"/>
          </p:nvPr>
        </p:nvSpPr>
        <p:spPr>
          <a:xfrm>
            <a:off x="719990" y="3071691"/>
            <a:ext cx="640200" cy="640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4" hasCustomPrompt="1"/>
          </p:nvPr>
        </p:nvSpPr>
        <p:spPr>
          <a:xfrm>
            <a:off x="3395853" y="1485883"/>
            <a:ext cx="640200" cy="640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5" hasCustomPrompt="1"/>
          </p:nvPr>
        </p:nvSpPr>
        <p:spPr>
          <a:xfrm>
            <a:off x="3395853" y="3071691"/>
            <a:ext cx="640200" cy="649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title" idx="6" hasCustomPrompt="1"/>
          </p:nvPr>
        </p:nvSpPr>
        <p:spPr>
          <a:xfrm>
            <a:off x="6071690" y="1485883"/>
            <a:ext cx="640200" cy="640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title" idx="7" hasCustomPrompt="1"/>
          </p:nvPr>
        </p:nvSpPr>
        <p:spPr>
          <a:xfrm>
            <a:off x="6071690" y="3071691"/>
            <a:ext cx="640200" cy="640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
          </p:nvPr>
        </p:nvSpPr>
        <p:spPr>
          <a:xfrm>
            <a:off x="719990" y="2069875"/>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2" name="Google Shape;92;p13"/>
          <p:cNvSpPr txBox="1">
            <a:spLocks noGrp="1"/>
          </p:cNvSpPr>
          <p:nvPr>
            <p:ph type="subTitle" idx="8"/>
          </p:nvPr>
        </p:nvSpPr>
        <p:spPr>
          <a:xfrm>
            <a:off x="3395853" y="2069875"/>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3" name="Google Shape;93;p13"/>
          <p:cNvSpPr txBox="1">
            <a:spLocks noGrp="1"/>
          </p:cNvSpPr>
          <p:nvPr>
            <p:ph type="subTitle" idx="9"/>
          </p:nvPr>
        </p:nvSpPr>
        <p:spPr>
          <a:xfrm>
            <a:off x="6071690" y="2069875"/>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4" name="Google Shape;94;p13"/>
          <p:cNvSpPr txBox="1">
            <a:spLocks noGrp="1"/>
          </p:cNvSpPr>
          <p:nvPr>
            <p:ph type="subTitle" idx="13"/>
          </p:nvPr>
        </p:nvSpPr>
        <p:spPr>
          <a:xfrm>
            <a:off x="719990" y="3655750"/>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5" name="Google Shape;95;p13"/>
          <p:cNvSpPr txBox="1">
            <a:spLocks noGrp="1"/>
          </p:cNvSpPr>
          <p:nvPr>
            <p:ph type="subTitle" idx="14"/>
          </p:nvPr>
        </p:nvSpPr>
        <p:spPr>
          <a:xfrm>
            <a:off x="3395853" y="3655750"/>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6" name="Google Shape;96;p13"/>
          <p:cNvSpPr txBox="1">
            <a:spLocks noGrp="1"/>
          </p:cNvSpPr>
          <p:nvPr>
            <p:ph type="subTitle" idx="15"/>
          </p:nvPr>
        </p:nvSpPr>
        <p:spPr>
          <a:xfrm>
            <a:off x="6071690" y="3655750"/>
            <a:ext cx="2352300" cy="46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accent2"/>
                </a:solidFill>
                <a:latin typeface="Inter"/>
                <a:ea typeface="Inter"/>
                <a:cs typeface="Inter"/>
                <a:sym typeface="Inter"/>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97" name="Google Shape;97;p13"/>
          <p:cNvGrpSpPr/>
          <p:nvPr/>
        </p:nvGrpSpPr>
        <p:grpSpPr>
          <a:xfrm>
            <a:off x="-1275021" y="-3502600"/>
            <a:ext cx="13069940" cy="10958650"/>
            <a:chOff x="-1275021" y="-3502600"/>
            <a:chExt cx="13069940" cy="10958650"/>
          </a:xfrm>
        </p:grpSpPr>
        <p:pic>
          <p:nvPicPr>
            <p:cNvPr id="98" name="Google Shape;98;p13"/>
            <p:cNvPicPr preferRelativeResize="0"/>
            <p:nvPr/>
          </p:nvPicPr>
          <p:blipFill>
            <a:blip r:embed="rId2">
              <a:alphaModFix/>
            </a:blip>
            <a:stretch>
              <a:fillRect/>
            </a:stretch>
          </p:blipFill>
          <p:spPr>
            <a:xfrm>
              <a:off x="5916632" y="-3502600"/>
              <a:ext cx="5878286" cy="5143500"/>
            </a:xfrm>
            <a:prstGeom prst="rect">
              <a:avLst/>
            </a:prstGeom>
            <a:noFill/>
            <a:ln>
              <a:noFill/>
            </a:ln>
          </p:spPr>
        </p:pic>
        <p:pic>
          <p:nvPicPr>
            <p:cNvPr id="99" name="Google Shape;99;p13"/>
            <p:cNvPicPr preferRelativeResize="0"/>
            <p:nvPr/>
          </p:nvPicPr>
          <p:blipFill>
            <a:blip r:embed="rId3">
              <a:alphaModFix/>
            </a:blip>
            <a:stretch>
              <a:fillRect/>
            </a:stretch>
          </p:blipFill>
          <p:spPr>
            <a:xfrm>
              <a:off x="-1275021" y="3960050"/>
              <a:ext cx="3976501" cy="349600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10_1_1_1_1">
    <p:spTree>
      <p:nvGrpSpPr>
        <p:cNvPr id="1" name="Shape 136"/>
        <p:cNvGrpSpPr/>
        <p:nvPr/>
      </p:nvGrpSpPr>
      <p:grpSpPr>
        <a:xfrm>
          <a:off x="0" y="0"/>
          <a:ext cx="0" cy="0"/>
          <a:chOff x="0" y="0"/>
          <a:chExt cx="0" cy="0"/>
        </a:xfrm>
      </p:grpSpPr>
      <p:grpSp>
        <p:nvGrpSpPr>
          <p:cNvPr id="137" name="Google Shape;137;p18"/>
          <p:cNvGrpSpPr/>
          <p:nvPr/>
        </p:nvGrpSpPr>
        <p:grpSpPr>
          <a:xfrm>
            <a:off x="-3249083" y="-2554995"/>
            <a:ext cx="13382083" cy="10199264"/>
            <a:chOff x="-3249083" y="-2554995"/>
            <a:chExt cx="13382083" cy="10199264"/>
          </a:xfrm>
        </p:grpSpPr>
        <p:pic>
          <p:nvPicPr>
            <p:cNvPr id="138" name="Google Shape;138;p18"/>
            <p:cNvPicPr preferRelativeResize="0"/>
            <p:nvPr/>
          </p:nvPicPr>
          <p:blipFill>
            <a:blip r:embed="rId2">
              <a:alphaModFix/>
            </a:blip>
            <a:stretch>
              <a:fillRect/>
            </a:stretch>
          </p:blipFill>
          <p:spPr>
            <a:xfrm rot="-8749677" flipH="1">
              <a:off x="5789549" y="-1600199"/>
              <a:ext cx="4076800" cy="2202575"/>
            </a:xfrm>
            <a:prstGeom prst="rect">
              <a:avLst/>
            </a:prstGeom>
            <a:noFill/>
            <a:ln>
              <a:noFill/>
            </a:ln>
          </p:spPr>
        </p:pic>
        <p:pic>
          <p:nvPicPr>
            <p:cNvPr id="139" name="Google Shape;139;p18"/>
            <p:cNvPicPr preferRelativeResize="0"/>
            <p:nvPr/>
          </p:nvPicPr>
          <p:blipFill>
            <a:blip r:embed="rId3">
              <a:alphaModFix/>
            </a:blip>
            <a:stretch>
              <a:fillRect/>
            </a:stretch>
          </p:blipFill>
          <p:spPr>
            <a:xfrm rot="-5399998" flipH="1">
              <a:off x="6997389" y="-156474"/>
              <a:ext cx="3625604" cy="1683801"/>
            </a:xfrm>
            <a:prstGeom prst="rect">
              <a:avLst/>
            </a:prstGeom>
            <a:noFill/>
            <a:ln>
              <a:noFill/>
            </a:ln>
          </p:spPr>
        </p:pic>
        <p:pic>
          <p:nvPicPr>
            <p:cNvPr id="140" name="Google Shape;140;p18"/>
            <p:cNvPicPr preferRelativeResize="0"/>
            <p:nvPr/>
          </p:nvPicPr>
          <p:blipFill>
            <a:blip r:embed="rId4">
              <a:alphaModFix/>
            </a:blip>
            <a:stretch>
              <a:fillRect/>
            </a:stretch>
          </p:blipFill>
          <p:spPr>
            <a:xfrm rot="3030686">
              <a:off x="-2360369" y="3109466"/>
              <a:ext cx="3434962" cy="3923570"/>
            </a:xfrm>
            <a:prstGeom prst="rect">
              <a:avLst/>
            </a:prstGeom>
            <a:noFill/>
            <a:ln>
              <a:noFill/>
            </a:ln>
          </p:spPr>
        </p:pic>
      </p:grpSp>
      <p:grpSp>
        <p:nvGrpSpPr>
          <p:cNvPr id="141" name="Google Shape;141;p18"/>
          <p:cNvGrpSpPr/>
          <p:nvPr/>
        </p:nvGrpSpPr>
        <p:grpSpPr>
          <a:xfrm>
            <a:off x="317375" y="312400"/>
            <a:ext cx="8562875" cy="4535000"/>
            <a:chOff x="317375" y="312400"/>
            <a:chExt cx="8562875" cy="4535000"/>
          </a:xfrm>
        </p:grpSpPr>
        <p:grpSp>
          <p:nvGrpSpPr>
            <p:cNvPr id="142" name="Google Shape;142;p18"/>
            <p:cNvGrpSpPr/>
            <p:nvPr/>
          </p:nvGrpSpPr>
          <p:grpSpPr>
            <a:xfrm flipH="1">
              <a:off x="8653150" y="4246850"/>
              <a:ext cx="227100" cy="600550"/>
              <a:chOff x="228300" y="4246850"/>
              <a:chExt cx="227100" cy="600550"/>
            </a:xfrm>
          </p:grpSpPr>
          <p:sp>
            <p:nvSpPr>
              <p:cNvPr id="143" name="Google Shape;143;p18"/>
              <p:cNvSpPr/>
              <p:nvPr/>
            </p:nvSpPr>
            <p:spPr>
              <a:xfrm rot="5400000">
                <a:off x="228300" y="42468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144" name="Google Shape;144;p18"/>
              <p:cNvSpPr/>
              <p:nvPr/>
            </p:nvSpPr>
            <p:spPr>
              <a:xfrm rot="5400000">
                <a:off x="228300" y="462030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
          <p:nvSpPr>
            <p:cNvPr id="145" name="Google Shape;145;p18"/>
            <p:cNvSpPr/>
            <p:nvPr/>
          </p:nvSpPr>
          <p:spPr>
            <a:xfrm flipH="1">
              <a:off x="317375" y="31240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
        <p:nvSpPr>
          <p:cNvPr id="146" name="Google Shape;146;p18"/>
          <p:cNvSpPr txBox="1">
            <a:spLocks noGrp="1"/>
          </p:cNvSpPr>
          <p:nvPr>
            <p:ph type="title"/>
          </p:nvPr>
        </p:nvSpPr>
        <p:spPr>
          <a:xfrm>
            <a:off x="720000" y="445025"/>
            <a:ext cx="7704000" cy="649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7" name="Google Shape;147;p18"/>
          <p:cNvSpPr txBox="1">
            <a:spLocks noGrp="1"/>
          </p:cNvSpPr>
          <p:nvPr>
            <p:ph type="body" idx="1"/>
          </p:nvPr>
        </p:nvSpPr>
        <p:spPr>
          <a:xfrm>
            <a:off x="720000" y="1094211"/>
            <a:ext cx="7704000" cy="3509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Raleway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28"/>
        <p:cNvGrpSpPr/>
        <p:nvPr/>
      </p:nvGrpSpPr>
      <p:grpSpPr>
        <a:xfrm>
          <a:off x="0" y="0"/>
          <a:ext cx="0" cy="0"/>
          <a:chOff x="0" y="0"/>
          <a:chExt cx="0" cy="0"/>
        </a:xfrm>
      </p:grpSpPr>
      <p:grpSp>
        <p:nvGrpSpPr>
          <p:cNvPr id="229" name="Google Shape;229;p24"/>
          <p:cNvGrpSpPr/>
          <p:nvPr/>
        </p:nvGrpSpPr>
        <p:grpSpPr>
          <a:xfrm>
            <a:off x="233100" y="252900"/>
            <a:ext cx="8677800" cy="4637700"/>
            <a:chOff x="233100" y="252900"/>
            <a:chExt cx="8677800" cy="4637700"/>
          </a:xfrm>
        </p:grpSpPr>
        <p:sp>
          <p:nvSpPr>
            <p:cNvPr id="230" name="Google Shape;230;p24"/>
            <p:cNvSpPr/>
            <p:nvPr/>
          </p:nvSpPr>
          <p:spPr>
            <a:xfrm>
              <a:off x="233100" y="252900"/>
              <a:ext cx="8677800" cy="463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nvGrpSpPr>
            <p:cNvPr id="231" name="Google Shape;231;p24"/>
            <p:cNvGrpSpPr/>
            <p:nvPr/>
          </p:nvGrpSpPr>
          <p:grpSpPr>
            <a:xfrm>
              <a:off x="486125" y="539500"/>
              <a:ext cx="8171750" cy="4064500"/>
              <a:chOff x="486125" y="539500"/>
              <a:chExt cx="8171750" cy="4064500"/>
            </a:xfrm>
          </p:grpSpPr>
          <p:grpSp>
            <p:nvGrpSpPr>
              <p:cNvPr id="232" name="Google Shape;232;p24"/>
              <p:cNvGrpSpPr/>
              <p:nvPr/>
            </p:nvGrpSpPr>
            <p:grpSpPr>
              <a:xfrm rot="5400000">
                <a:off x="299400" y="4190175"/>
                <a:ext cx="600550" cy="227100"/>
                <a:chOff x="789175" y="425950"/>
                <a:chExt cx="600550" cy="227100"/>
              </a:xfrm>
            </p:grpSpPr>
            <p:sp>
              <p:nvSpPr>
                <p:cNvPr id="233" name="Google Shape;233;p24"/>
                <p:cNvSpPr/>
                <p:nvPr/>
              </p:nvSpPr>
              <p:spPr>
                <a:xfrm>
                  <a:off x="78917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34" name="Google Shape;234;p24"/>
                <p:cNvSpPr/>
                <p:nvPr/>
              </p:nvSpPr>
              <p:spPr>
                <a:xfrm>
                  <a:off x="11626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
            <p:nvSpPr>
              <p:cNvPr id="235" name="Google Shape;235;p24"/>
              <p:cNvSpPr/>
              <p:nvPr/>
            </p:nvSpPr>
            <p:spPr>
              <a:xfrm rot="5400000">
                <a:off x="8430775" y="53950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grpSp>
      <p:grpSp>
        <p:nvGrpSpPr>
          <p:cNvPr id="236" name="Google Shape;236;p24"/>
          <p:cNvGrpSpPr/>
          <p:nvPr/>
        </p:nvGrpSpPr>
        <p:grpSpPr>
          <a:xfrm>
            <a:off x="-4537575" y="-2249975"/>
            <a:ext cx="16677901" cy="9447826"/>
            <a:chOff x="-4537575" y="-2249975"/>
            <a:chExt cx="16677901" cy="9447826"/>
          </a:xfrm>
        </p:grpSpPr>
        <p:pic>
          <p:nvPicPr>
            <p:cNvPr id="237" name="Google Shape;237;p24"/>
            <p:cNvPicPr preferRelativeResize="0"/>
            <p:nvPr/>
          </p:nvPicPr>
          <p:blipFill>
            <a:blip r:embed="rId2">
              <a:alphaModFix/>
            </a:blip>
            <a:stretch>
              <a:fillRect/>
            </a:stretch>
          </p:blipFill>
          <p:spPr>
            <a:xfrm rot="-2700010" flipH="1">
              <a:off x="-3782873" y="-489731"/>
              <a:ext cx="7077144" cy="5066088"/>
            </a:xfrm>
            <a:prstGeom prst="rect">
              <a:avLst/>
            </a:prstGeom>
            <a:noFill/>
            <a:ln>
              <a:noFill/>
            </a:ln>
          </p:spPr>
        </p:pic>
        <p:pic>
          <p:nvPicPr>
            <p:cNvPr id="238" name="Google Shape;238;p24"/>
            <p:cNvPicPr preferRelativeResize="0"/>
            <p:nvPr/>
          </p:nvPicPr>
          <p:blipFill>
            <a:blip r:embed="rId2">
              <a:alphaModFix/>
            </a:blip>
            <a:stretch>
              <a:fillRect/>
            </a:stretch>
          </p:blipFill>
          <p:spPr>
            <a:xfrm rot="-6020753">
              <a:off x="5478208" y="732544"/>
              <a:ext cx="7073111" cy="5063187"/>
            </a:xfrm>
            <a:prstGeom prst="rect">
              <a:avLst/>
            </a:prstGeom>
            <a:noFill/>
            <a:ln>
              <a:noFill/>
            </a:ln>
          </p:spPr>
        </p:pic>
      </p:grpSp>
      <p:sp>
        <p:nvSpPr>
          <p:cNvPr id="239" name="Google Shape;239;p24"/>
          <p:cNvSpPr txBox="1">
            <a:spLocks noGrp="1"/>
          </p:cNvSpPr>
          <p:nvPr>
            <p:ph type="title"/>
          </p:nvPr>
        </p:nvSpPr>
        <p:spPr>
          <a:xfrm>
            <a:off x="2099100" y="539500"/>
            <a:ext cx="4945800" cy="11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240" name="Google Shape;240;p24"/>
          <p:cNvSpPr txBox="1">
            <a:spLocks noGrp="1"/>
          </p:cNvSpPr>
          <p:nvPr>
            <p:ph type="subTitle" idx="1"/>
          </p:nvPr>
        </p:nvSpPr>
        <p:spPr>
          <a:xfrm>
            <a:off x="2347950" y="1940900"/>
            <a:ext cx="4448100" cy="116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41" name="Google Shape;241;p24"/>
          <p:cNvSpPr txBox="1"/>
          <p:nvPr/>
        </p:nvSpPr>
        <p:spPr>
          <a:xfrm>
            <a:off x="2099100" y="4049900"/>
            <a:ext cx="4945800" cy="5541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lang="en" sz="1200" b="1" u="sng">
                <a:solidFill>
                  <a:schemeClr val="dk1"/>
                </a:solidFill>
                <a:latin typeface="Raleway"/>
                <a:ea typeface="Raleway"/>
                <a:cs typeface="Raleway"/>
                <a:sym typeface="Raleway"/>
                <a:hlinkClick r:id="rId3">
                  <a:extLst>
                    <a:ext uri="{A12FA001-AC4F-418D-AE19-62706E023703}">
                      <ahyp:hlinkClr xmlns:ahyp="http://schemas.microsoft.com/office/drawing/2018/hyperlinkcolor" val="tx"/>
                    </a:ext>
                  </a:extLst>
                </a:hlinkClick>
              </a:rPr>
              <a:t>Slidesgo</a:t>
            </a:r>
            <a:r>
              <a:rPr lang="en" sz="1200">
                <a:solidFill>
                  <a:schemeClr val="dk1"/>
                </a:solidFill>
                <a:latin typeface="Raleway"/>
                <a:ea typeface="Raleway"/>
                <a:cs typeface="Raleway"/>
                <a:sym typeface="Raleway"/>
              </a:rPr>
              <a:t>, and includes icons, infographics &amp; images by </a:t>
            </a:r>
            <a:r>
              <a:rPr lang="en" sz="1200" b="1" u="sng">
                <a:solidFill>
                  <a:schemeClr val="dk1"/>
                </a:solidFill>
                <a:latin typeface="Raleway"/>
                <a:ea typeface="Raleway"/>
                <a:cs typeface="Raleway"/>
                <a:sym typeface="Raleway"/>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Raleway"/>
                <a:ea typeface="Raleway"/>
                <a:cs typeface="Raleway"/>
                <a:sym typeface="Raleway"/>
              </a:rPr>
              <a:t> </a:t>
            </a:r>
            <a:endParaRPr sz="1200" b="1" u="sng">
              <a:solidFill>
                <a:schemeClr val="dk1"/>
              </a:solidFill>
              <a:latin typeface="Raleway"/>
              <a:ea typeface="Raleway"/>
              <a:cs typeface="Raleway"/>
              <a:sym typeface="Raleway"/>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42"/>
        <p:cNvGrpSpPr/>
        <p:nvPr/>
      </p:nvGrpSpPr>
      <p:grpSpPr>
        <a:xfrm>
          <a:off x="0" y="0"/>
          <a:ext cx="0" cy="0"/>
          <a:chOff x="0" y="0"/>
          <a:chExt cx="0" cy="0"/>
        </a:xfrm>
      </p:grpSpPr>
      <p:grpSp>
        <p:nvGrpSpPr>
          <p:cNvPr id="243" name="Google Shape;243;p25"/>
          <p:cNvGrpSpPr/>
          <p:nvPr/>
        </p:nvGrpSpPr>
        <p:grpSpPr>
          <a:xfrm>
            <a:off x="-2825274" y="-3157415"/>
            <a:ext cx="14284504" cy="10512800"/>
            <a:chOff x="-2825274" y="-3157415"/>
            <a:chExt cx="14284504" cy="10512800"/>
          </a:xfrm>
        </p:grpSpPr>
        <p:pic>
          <p:nvPicPr>
            <p:cNvPr id="244" name="Google Shape;244;p25"/>
            <p:cNvPicPr preferRelativeResize="0"/>
            <p:nvPr/>
          </p:nvPicPr>
          <p:blipFill>
            <a:blip r:embed="rId2">
              <a:alphaModFix/>
            </a:blip>
            <a:stretch>
              <a:fillRect/>
            </a:stretch>
          </p:blipFill>
          <p:spPr>
            <a:xfrm rot="878570" flipH="1">
              <a:off x="5206411" y="2520664"/>
              <a:ext cx="5820694" cy="4166673"/>
            </a:xfrm>
            <a:prstGeom prst="rect">
              <a:avLst/>
            </a:prstGeom>
            <a:noFill/>
            <a:ln>
              <a:noFill/>
            </a:ln>
          </p:spPr>
        </p:pic>
        <p:pic>
          <p:nvPicPr>
            <p:cNvPr id="245" name="Google Shape;245;p25"/>
            <p:cNvPicPr preferRelativeResize="0"/>
            <p:nvPr/>
          </p:nvPicPr>
          <p:blipFill>
            <a:blip r:embed="rId3">
              <a:alphaModFix/>
            </a:blip>
            <a:stretch>
              <a:fillRect/>
            </a:stretch>
          </p:blipFill>
          <p:spPr>
            <a:xfrm rot="-9755820" flipH="1">
              <a:off x="-2240196" y="-2261255"/>
              <a:ext cx="6749446" cy="4945353"/>
            </a:xfrm>
            <a:prstGeom prst="rect">
              <a:avLst/>
            </a:prstGeom>
            <a:noFill/>
            <a:ln>
              <a:noFill/>
            </a:ln>
          </p:spPr>
        </p:pic>
      </p:grpSp>
      <p:grpSp>
        <p:nvGrpSpPr>
          <p:cNvPr id="246" name="Google Shape;246;p25"/>
          <p:cNvGrpSpPr/>
          <p:nvPr/>
        </p:nvGrpSpPr>
        <p:grpSpPr>
          <a:xfrm>
            <a:off x="246950" y="1923050"/>
            <a:ext cx="227100" cy="2989200"/>
            <a:chOff x="246950" y="282625"/>
            <a:chExt cx="227100" cy="2989200"/>
          </a:xfrm>
        </p:grpSpPr>
        <p:sp>
          <p:nvSpPr>
            <p:cNvPr id="247" name="Google Shape;247;p25"/>
            <p:cNvSpPr/>
            <p:nvPr/>
          </p:nvSpPr>
          <p:spPr>
            <a:xfrm>
              <a:off x="246950" y="282625"/>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48" name="Google Shape;248;p25"/>
            <p:cNvSpPr/>
            <p:nvPr/>
          </p:nvSpPr>
          <p:spPr>
            <a:xfrm>
              <a:off x="246950" y="2671275"/>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49" name="Google Shape;249;p25"/>
            <p:cNvSpPr/>
            <p:nvPr/>
          </p:nvSpPr>
          <p:spPr>
            <a:xfrm>
              <a:off x="246950" y="3044725"/>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50"/>
        <p:cNvGrpSpPr/>
        <p:nvPr/>
      </p:nvGrpSpPr>
      <p:grpSpPr>
        <a:xfrm>
          <a:off x="0" y="0"/>
          <a:ext cx="0" cy="0"/>
          <a:chOff x="0" y="0"/>
          <a:chExt cx="0" cy="0"/>
        </a:xfrm>
      </p:grpSpPr>
      <p:grpSp>
        <p:nvGrpSpPr>
          <p:cNvPr id="251" name="Google Shape;251;p26"/>
          <p:cNvGrpSpPr/>
          <p:nvPr/>
        </p:nvGrpSpPr>
        <p:grpSpPr>
          <a:xfrm>
            <a:off x="233100" y="252900"/>
            <a:ext cx="8677800" cy="4637700"/>
            <a:chOff x="233100" y="252900"/>
            <a:chExt cx="8677800" cy="4637700"/>
          </a:xfrm>
        </p:grpSpPr>
        <p:sp>
          <p:nvSpPr>
            <p:cNvPr id="252" name="Google Shape;252;p26"/>
            <p:cNvSpPr/>
            <p:nvPr/>
          </p:nvSpPr>
          <p:spPr>
            <a:xfrm>
              <a:off x="233100" y="252900"/>
              <a:ext cx="8677800" cy="463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nvGrpSpPr>
            <p:cNvPr id="253" name="Google Shape;253;p26"/>
            <p:cNvGrpSpPr/>
            <p:nvPr/>
          </p:nvGrpSpPr>
          <p:grpSpPr>
            <a:xfrm>
              <a:off x="486125" y="539500"/>
              <a:ext cx="8171750" cy="4064500"/>
              <a:chOff x="486125" y="539500"/>
              <a:chExt cx="8171750" cy="4064500"/>
            </a:xfrm>
          </p:grpSpPr>
          <p:grpSp>
            <p:nvGrpSpPr>
              <p:cNvPr id="254" name="Google Shape;254;p26"/>
              <p:cNvGrpSpPr/>
              <p:nvPr/>
            </p:nvGrpSpPr>
            <p:grpSpPr>
              <a:xfrm rot="5400000">
                <a:off x="299400" y="4190175"/>
                <a:ext cx="600550" cy="227100"/>
                <a:chOff x="789175" y="425950"/>
                <a:chExt cx="600550" cy="227100"/>
              </a:xfrm>
            </p:grpSpPr>
            <p:sp>
              <p:nvSpPr>
                <p:cNvPr id="255" name="Google Shape;255;p26"/>
                <p:cNvSpPr/>
                <p:nvPr/>
              </p:nvSpPr>
              <p:spPr>
                <a:xfrm>
                  <a:off x="78917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56" name="Google Shape;256;p26"/>
                <p:cNvSpPr/>
                <p:nvPr/>
              </p:nvSpPr>
              <p:spPr>
                <a:xfrm>
                  <a:off x="11626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
            <p:nvSpPr>
              <p:cNvPr id="257" name="Google Shape;257;p26"/>
              <p:cNvSpPr/>
              <p:nvPr/>
            </p:nvSpPr>
            <p:spPr>
              <a:xfrm rot="5400000">
                <a:off x="8430775" y="53950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grpSp>
      <p:grpSp>
        <p:nvGrpSpPr>
          <p:cNvPr id="258" name="Google Shape;258;p26"/>
          <p:cNvGrpSpPr/>
          <p:nvPr/>
        </p:nvGrpSpPr>
        <p:grpSpPr>
          <a:xfrm>
            <a:off x="-4637900" y="-3318702"/>
            <a:ext cx="16509950" cy="12107424"/>
            <a:chOff x="-4637900" y="-3318702"/>
            <a:chExt cx="16509950" cy="12107424"/>
          </a:xfrm>
        </p:grpSpPr>
        <p:pic>
          <p:nvPicPr>
            <p:cNvPr id="259" name="Google Shape;259;p26"/>
            <p:cNvPicPr preferRelativeResize="0"/>
            <p:nvPr/>
          </p:nvPicPr>
          <p:blipFill>
            <a:blip r:embed="rId2">
              <a:alphaModFix/>
            </a:blip>
            <a:stretch>
              <a:fillRect/>
            </a:stretch>
          </p:blipFill>
          <p:spPr>
            <a:xfrm rot="4174564">
              <a:off x="6805253" y="-2152294"/>
              <a:ext cx="5000719" cy="3615060"/>
            </a:xfrm>
            <a:prstGeom prst="rect">
              <a:avLst/>
            </a:prstGeom>
            <a:noFill/>
            <a:ln>
              <a:noFill/>
            </a:ln>
          </p:spPr>
        </p:pic>
        <p:pic>
          <p:nvPicPr>
            <p:cNvPr id="260" name="Google Shape;260;p26"/>
            <p:cNvPicPr preferRelativeResize="0"/>
            <p:nvPr/>
          </p:nvPicPr>
          <p:blipFill>
            <a:blip r:embed="rId2">
              <a:alphaModFix/>
            </a:blip>
            <a:stretch>
              <a:fillRect/>
            </a:stretch>
          </p:blipFill>
          <p:spPr>
            <a:xfrm rot="4174570">
              <a:off x="-4537818" y="1545241"/>
              <a:ext cx="7575637" cy="547646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649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1pPr>
            <a:lvl2pPr lvl="1"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2pPr>
            <a:lvl3pPr lvl="2"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3pPr>
            <a:lvl4pPr lvl="3"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4pPr>
            <a:lvl5pPr lvl="4"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5pPr>
            <a:lvl6pPr lvl="5"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6pPr>
            <a:lvl7pPr lvl="6"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7pPr>
            <a:lvl8pPr lvl="7"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8pPr>
            <a:lvl9pPr lvl="8" rt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1pPr>
            <a:lvl2pPr marL="914400" lvl="1"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2pPr>
            <a:lvl3pPr marL="1371600" lvl="2"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3pPr>
            <a:lvl4pPr marL="1828800" lvl="3"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4pPr>
            <a:lvl5pPr marL="2286000" lvl="4"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5pPr>
            <a:lvl6pPr marL="2743200" lvl="5"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6pPr>
            <a:lvl7pPr marL="3200400" lvl="6"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7pPr>
            <a:lvl8pPr marL="3657600" lvl="7"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8pPr>
            <a:lvl9pPr marL="4114800" lvl="8"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8" r:id="rId6"/>
    <p:sldLayoutId id="2147483659" r:id="rId7"/>
    <p:sldLayoutId id="2147483664" r:id="rId8"/>
    <p:sldLayoutId id="2147483670" r:id="rId9"/>
    <p:sldLayoutId id="2147483671" r:id="rId10"/>
    <p:sldLayoutId id="214748367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image" Target="../media/image240.png"/><Relationship Id="rId13" Type="http://schemas.openxmlformats.org/officeDocument/2006/relationships/customXml" Target="../ink/ink12.xml"/><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26.png"/><Relationship Id="rId2" Type="http://schemas.openxmlformats.org/officeDocument/2006/relationships/image" Target="../media/image24.png"/><Relationship Id="rId16"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image" Target="../media/image230.png"/><Relationship Id="rId11" Type="http://schemas.openxmlformats.org/officeDocument/2006/relationships/customXml" Target="../ink/ink11.xml"/><Relationship Id="rId5" Type="http://schemas.openxmlformats.org/officeDocument/2006/relationships/customXml" Target="../ink/ink8.xml"/><Relationship Id="rId15" Type="http://schemas.openxmlformats.org/officeDocument/2006/relationships/customXml" Target="../ink/ink13.xml"/><Relationship Id="rId10" Type="http://schemas.openxmlformats.org/officeDocument/2006/relationships/image" Target="../media/image25.png"/><Relationship Id="rId4" Type="http://schemas.openxmlformats.org/officeDocument/2006/relationships/image" Target="../media/image220.png"/><Relationship Id="rId9" Type="http://schemas.openxmlformats.org/officeDocument/2006/relationships/customXml" Target="../ink/ink10.xml"/><Relationship Id="rId1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0"/>
          <p:cNvSpPr txBox="1">
            <a:spLocks noGrp="1"/>
          </p:cNvSpPr>
          <p:nvPr>
            <p:ph type="ctrTitle"/>
          </p:nvPr>
        </p:nvSpPr>
        <p:spPr>
          <a:xfrm>
            <a:off x="619500" y="539850"/>
            <a:ext cx="7905000" cy="20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400" dirty="0"/>
              <a:t>Enhancing Building Energy Efficiency with IoT-Driven</a:t>
            </a:r>
            <a:br>
              <a:rPr lang="en-US" sz="2400" dirty="0"/>
            </a:br>
            <a:r>
              <a:rPr lang="en-US" sz="2400" dirty="0"/>
              <a:t>Hybrid Deep Learning Models for Accurate Energy</a:t>
            </a:r>
            <a:br>
              <a:rPr lang="en-US" sz="2400" dirty="0"/>
            </a:br>
            <a:r>
              <a:rPr lang="en-US" sz="2400" dirty="0"/>
              <a:t>Consumption Prediction</a:t>
            </a:r>
            <a:endParaRPr sz="1800" dirty="0"/>
          </a:p>
        </p:txBody>
      </p:sp>
      <p:sp>
        <p:nvSpPr>
          <p:cNvPr id="272" name="Google Shape;272;p30"/>
          <p:cNvSpPr txBox="1">
            <a:spLocks noGrp="1"/>
          </p:cNvSpPr>
          <p:nvPr>
            <p:ph type="subTitle" idx="1"/>
          </p:nvPr>
        </p:nvSpPr>
        <p:spPr>
          <a:xfrm>
            <a:off x="1830450" y="3060799"/>
            <a:ext cx="5483100" cy="7529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IoT Networks Project Phases 2 &amp; 3 Presentation</a:t>
            </a:r>
          </a:p>
          <a:p>
            <a:pPr marL="0" lvl="0" indent="0" algn="ctr" rtl="0">
              <a:spcBef>
                <a:spcPts val="0"/>
              </a:spcBef>
              <a:spcAft>
                <a:spcPts val="0"/>
              </a:spcAft>
              <a:buNone/>
            </a:pPr>
            <a:r>
              <a:rPr lang="en" dirty="0"/>
              <a:t>by Mahan Bayhaghi</a:t>
            </a:r>
          </a:p>
        </p:txBody>
      </p:sp>
      <p:cxnSp>
        <p:nvCxnSpPr>
          <p:cNvPr id="273" name="Google Shape;273;p30"/>
          <p:cNvCxnSpPr/>
          <p:nvPr/>
        </p:nvCxnSpPr>
        <p:spPr>
          <a:xfrm>
            <a:off x="2512650" y="2882875"/>
            <a:ext cx="4118700" cy="0"/>
          </a:xfrm>
          <a:prstGeom prst="straightConnector1">
            <a:avLst/>
          </a:prstGeom>
          <a:noFill/>
          <a:ln w="9525" cap="flat" cmpd="sng">
            <a:solidFill>
              <a:schemeClr val="dk1"/>
            </a:solidFill>
            <a:prstDash val="solid"/>
            <a:round/>
            <a:headEnd type="none" w="med" len="med"/>
            <a:tailEnd type="none" w="med" len="med"/>
          </a:ln>
        </p:spPr>
      </p:cxnSp>
      <p:grpSp>
        <p:nvGrpSpPr>
          <p:cNvPr id="274" name="Google Shape;274;p30"/>
          <p:cNvGrpSpPr/>
          <p:nvPr/>
        </p:nvGrpSpPr>
        <p:grpSpPr>
          <a:xfrm>
            <a:off x="4085000" y="891025"/>
            <a:ext cx="974000" cy="227100"/>
            <a:chOff x="415725" y="425950"/>
            <a:chExt cx="974000" cy="227100"/>
          </a:xfrm>
        </p:grpSpPr>
        <p:sp>
          <p:nvSpPr>
            <p:cNvPr id="275" name="Google Shape;275;p30"/>
            <p:cNvSpPr/>
            <p:nvPr/>
          </p:nvSpPr>
          <p:spPr>
            <a:xfrm>
              <a:off x="4157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76" name="Google Shape;276;p30"/>
            <p:cNvSpPr/>
            <p:nvPr/>
          </p:nvSpPr>
          <p:spPr>
            <a:xfrm>
              <a:off x="78917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277" name="Google Shape;277;p30"/>
            <p:cNvSpPr/>
            <p:nvPr/>
          </p:nvSpPr>
          <p:spPr>
            <a:xfrm>
              <a:off x="11626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
        <p:nvSpPr>
          <p:cNvPr id="2" name="TextBox 1">
            <a:extLst>
              <a:ext uri="{FF2B5EF4-FFF2-40B4-BE49-F238E27FC236}">
                <a16:creationId xmlns:a16="http://schemas.microsoft.com/office/drawing/2014/main" id="{1474F7C5-5CCA-847B-122E-F7C803F0EDDE}"/>
              </a:ext>
            </a:extLst>
          </p:cNvPr>
          <p:cNvSpPr txBox="1"/>
          <p:nvPr/>
        </p:nvSpPr>
        <p:spPr>
          <a:xfrm>
            <a:off x="3841133" y="3991665"/>
            <a:ext cx="2435733"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
                <a:srgbClr val="FFFFFF"/>
              </a:buClr>
              <a:buSzPts val="1200"/>
              <a:buFont typeface="Raleway"/>
              <a:buNone/>
              <a:tabLst/>
              <a:defRPr/>
            </a:pPr>
            <a:r>
              <a:rPr kumimoji="0" lang="en-US" sz="1200" b="0" i="0" u="none" strike="noStrike" kern="0" cap="none" spc="0" normalizeH="0" baseline="0" noProof="0" dirty="0">
                <a:ln>
                  <a:noFill/>
                </a:ln>
                <a:solidFill>
                  <a:srgbClr val="FFFFFF"/>
                </a:solidFill>
                <a:effectLst/>
                <a:uLnTx/>
                <a:uFillTx/>
                <a:latin typeface="Raleway"/>
                <a:sym typeface="Raleway"/>
              </a:rPr>
              <a:t>Sharif University of Technology</a:t>
            </a:r>
          </a:p>
          <a:p>
            <a:pPr marL="0" marR="0" lvl="0" indent="0" defTabSz="914400" rtl="0" eaLnBrk="1" fontAlgn="auto" latinLnBrk="0" hangingPunct="1">
              <a:lnSpc>
                <a:spcPct val="100000"/>
              </a:lnSpc>
              <a:spcBef>
                <a:spcPts val="0"/>
              </a:spcBef>
              <a:spcAft>
                <a:spcPts val="0"/>
              </a:spcAft>
              <a:buClr>
                <a:srgbClr val="FFFFFF"/>
              </a:buClr>
              <a:buSzPts val="1200"/>
              <a:buFont typeface="Raleway"/>
              <a:buNone/>
              <a:tabLst/>
              <a:defRPr/>
            </a:pPr>
            <a:r>
              <a:rPr kumimoji="0" lang="en-US" sz="1200" b="0" i="0" u="none" strike="noStrike" kern="0" cap="none" spc="0" normalizeH="0" baseline="0" noProof="0" dirty="0">
                <a:ln>
                  <a:noFill/>
                </a:ln>
                <a:solidFill>
                  <a:srgbClr val="FFFFFF"/>
                </a:solidFill>
                <a:effectLst/>
                <a:uLnTx/>
                <a:uFillTx/>
                <a:latin typeface="Raleway"/>
                <a:sym typeface="Raleway"/>
              </a:rPr>
              <a:t>Dept. of Computer Engineering</a:t>
            </a:r>
          </a:p>
          <a:p>
            <a:pPr lvl="0">
              <a:buClr>
                <a:srgbClr val="FFFFFF"/>
              </a:buClr>
              <a:buSzPts val="1200"/>
              <a:defRPr/>
            </a:pPr>
            <a:r>
              <a:rPr lang="en-US" sz="1200" dirty="0">
                <a:solidFill>
                  <a:srgbClr val="FFFFFF"/>
                </a:solidFill>
                <a:latin typeface="Raleway"/>
                <a:sym typeface="Raleway"/>
              </a:rPr>
              <a:t>Fall 2025</a:t>
            </a:r>
            <a:endParaRPr kumimoji="0" lang="en-US" sz="1200" b="0" i="0" u="none" strike="noStrike" kern="0" cap="none" spc="0" normalizeH="0" baseline="0" noProof="0" dirty="0">
              <a:ln>
                <a:noFill/>
              </a:ln>
              <a:solidFill>
                <a:srgbClr val="FFFFFF"/>
              </a:solidFill>
              <a:effectLst/>
              <a:uLnTx/>
              <a:uFillTx/>
              <a:latin typeface="Raleway"/>
              <a:sym typeface="Raleway"/>
            </a:endParaRPr>
          </a:p>
        </p:txBody>
      </p:sp>
      <p:pic>
        <p:nvPicPr>
          <p:cNvPr id="4" name="Picture 3">
            <a:extLst>
              <a:ext uri="{FF2B5EF4-FFF2-40B4-BE49-F238E27FC236}">
                <a16:creationId xmlns:a16="http://schemas.microsoft.com/office/drawing/2014/main" id="{826943AD-7375-4399-F075-35FE42F3D2E5}"/>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Effect>
                      <a14:sharpenSoften amount="-25000"/>
                    </a14:imgEffect>
                  </a14:imgLayer>
                </a14:imgProps>
              </a:ext>
            </a:extLst>
          </a:blip>
          <a:stretch>
            <a:fillRect/>
          </a:stretch>
        </p:blipFill>
        <p:spPr>
          <a:xfrm>
            <a:off x="3204056" y="3991665"/>
            <a:ext cx="635127" cy="6351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C1A6-9E46-B6A2-0227-98F655BA0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B1182-B67A-062D-BB1C-DD51559D0343}"/>
              </a:ext>
            </a:extLst>
          </p:cNvPr>
          <p:cNvSpPr>
            <a:spLocks noGrp="1"/>
          </p:cNvSpPr>
          <p:nvPr>
            <p:ph type="title"/>
          </p:nvPr>
        </p:nvSpPr>
        <p:spPr/>
        <p:txBody>
          <a:bodyPr/>
          <a:lstStyle/>
          <a:p>
            <a:r>
              <a:rPr lang="en-US" dirty="0"/>
              <a:t>Dataset and Preprocessing </a:t>
            </a:r>
          </a:p>
        </p:txBody>
      </p:sp>
      <p:sp>
        <p:nvSpPr>
          <p:cNvPr id="3" name="Text Placeholder 2">
            <a:extLst>
              <a:ext uri="{FF2B5EF4-FFF2-40B4-BE49-F238E27FC236}">
                <a16:creationId xmlns:a16="http://schemas.microsoft.com/office/drawing/2014/main" id="{0A911FD3-08E9-FBCC-2752-FE22D7F009D3}"/>
              </a:ext>
            </a:extLst>
          </p:cNvPr>
          <p:cNvSpPr>
            <a:spLocks noGrp="1"/>
          </p:cNvSpPr>
          <p:nvPr>
            <p:ph type="body" idx="1"/>
          </p:nvPr>
        </p:nvSpPr>
        <p:spPr/>
        <p:txBody>
          <a:bodyPr/>
          <a:lstStyle/>
          <a:p>
            <a:pPr>
              <a:lnSpc>
                <a:spcPct val="150000"/>
              </a:lnSpc>
            </a:pPr>
            <a:r>
              <a:rPr lang="en-US" sz="1400" b="1" dirty="0"/>
              <a:t>Data Source: </a:t>
            </a:r>
            <a:r>
              <a:rPr lang="en-US" sz="1400" dirty="0"/>
              <a:t>Utilized publicly available energy data from the EIA (Energy Information Administration).</a:t>
            </a:r>
          </a:p>
          <a:p>
            <a:pPr>
              <a:lnSpc>
                <a:spcPct val="150000"/>
              </a:lnSpc>
            </a:pPr>
            <a:r>
              <a:rPr lang="en-US" sz="1400" b="1" dirty="0"/>
              <a:t>Time Series Formatting: </a:t>
            </a:r>
            <a:r>
              <a:rPr lang="en-US" sz="1400" dirty="0"/>
              <a:t>Data structured into sequences with a defined look-back window.</a:t>
            </a:r>
          </a:p>
          <a:p>
            <a:pPr>
              <a:lnSpc>
                <a:spcPct val="150000"/>
              </a:lnSpc>
            </a:pPr>
            <a:r>
              <a:rPr lang="en-US" sz="1400" b="1" dirty="0" err="1"/>
              <a:t>MinMax</a:t>
            </a:r>
            <a:r>
              <a:rPr lang="en-US" sz="1400" b="1" dirty="0"/>
              <a:t> Scaling: </a:t>
            </a:r>
            <a:r>
              <a:rPr lang="en-US" sz="1400" dirty="0"/>
              <a:t>used to standardize the input features between 0 and 1.</a:t>
            </a:r>
          </a:p>
          <a:p>
            <a:pPr>
              <a:lnSpc>
                <a:spcPct val="150000"/>
              </a:lnSpc>
            </a:pPr>
            <a:r>
              <a:rPr lang="en-US" sz="1400" b="1" dirty="0"/>
              <a:t>Why </a:t>
            </a:r>
            <a:r>
              <a:rPr lang="en-US" sz="1400" b="1" dirty="0" err="1"/>
              <a:t>MinMax</a:t>
            </a:r>
            <a:r>
              <a:rPr lang="en-US" sz="1400" b="1" dirty="0"/>
              <a:t> Scaling?</a:t>
            </a:r>
          </a:p>
          <a:p>
            <a:pPr lvl="1">
              <a:lnSpc>
                <a:spcPct val="150000"/>
              </a:lnSpc>
            </a:pPr>
            <a:r>
              <a:rPr lang="en-US" sz="1400" dirty="0"/>
              <a:t>Neural networks, especially LSTMs, converge faster and perform more consistently when input data is normalized, preventing larger values from dominating the learning process.</a:t>
            </a:r>
          </a:p>
          <a:p>
            <a:pPr>
              <a:lnSpc>
                <a:spcPct val="150000"/>
              </a:lnSpc>
            </a:pPr>
            <a:endParaRPr lang="en-US" sz="1400" dirty="0"/>
          </a:p>
        </p:txBody>
      </p:sp>
    </p:spTree>
    <p:extLst>
      <p:ext uri="{BB962C8B-B14F-4D97-AF65-F5344CB8AC3E}">
        <p14:creationId xmlns:p14="http://schemas.microsoft.com/office/powerpoint/2010/main" val="4157226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1">
          <a:extLst>
            <a:ext uri="{FF2B5EF4-FFF2-40B4-BE49-F238E27FC236}">
              <a16:creationId xmlns:a16="http://schemas.microsoft.com/office/drawing/2014/main" id="{F8ED8B2A-1D09-C69B-FEC8-3C7B079C8316}"/>
            </a:ext>
          </a:extLst>
        </p:cNvPr>
        <p:cNvGrpSpPr/>
        <p:nvPr/>
      </p:nvGrpSpPr>
      <p:grpSpPr>
        <a:xfrm>
          <a:off x="0" y="0"/>
          <a:ext cx="0" cy="0"/>
          <a:chOff x="0" y="0"/>
          <a:chExt cx="0" cy="0"/>
        </a:xfrm>
      </p:grpSpPr>
      <p:sp>
        <p:nvSpPr>
          <p:cNvPr id="312" name="Google Shape;312;p33">
            <a:extLst>
              <a:ext uri="{FF2B5EF4-FFF2-40B4-BE49-F238E27FC236}">
                <a16:creationId xmlns:a16="http://schemas.microsoft.com/office/drawing/2014/main" id="{C0AA8348-9466-B07A-2FC9-F8E802589F56}"/>
              </a:ext>
            </a:extLst>
          </p:cNvPr>
          <p:cNvSpPr txBox="1">
            <a:spLocks noGrp="1"/>
          </p:cNvSpPr>
          <p:nvPr>
            <p:ph type="title"/>
          </p:nvPr>
        </p:nvSpPr>
        <p:spPr>
          <a:xfrm>
            <a:off x="1370399" y="198120"/>
            <a:ext cx="6403200" cy="9456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Dataset EDA</a:t>
            </a:r>
            <a:endParaRPr dirty="0"/>
          </a:p>
        </p:txBody>
      </p:sp>
      <p:pic>
        <p:nvPicPr>
          <p:cNvPr id="4" name="Picture 3" descr="A graph of energy consumption">
            <a:extLst>
              <a:ext uri="{FF2B5EF4-FFF2-40B4-BE49-F238E27FC236}">
                <a16:creationId xmlns:a16="http://schemas.microsoft.com/office/drawing/2014/main" id="{0930F97D-29D9-93BE-F18E-CD3A31BAAC81}"/>
              </a:ext>
            </a:extLst>
          </p:cNvPr>
          <p:cNvPicPr>
            <a:picLocks noChangeAspect="1"/>
          </p:cNvPicPr>
          <p:nvPr/>
        </p:nvPicPr>
        <p:blipFill>
          <a:blip r:embed="rId3"/>
          <a:stretch>
            <a:fillRect/>
          </a:stretch>
        </p:blipFill>
        <p:spPr>
          <a:xfrm>
            <a:off x="2160140" y="1240460"/>
            <a:ext cx="4823717" cy="3636340"/>
          </a:xfrm>
          <a:prstGeom prst="rect">
            <a:avLst/>
          </a:prstGeom>
        </p:spPr>
      </p:pic>
    </p:spTree>
    <p:extLst>
      <p:ext uri="{BB962C8B-B14F-4D97-AF65-F5344CB8AC3E}">
        <p14:creationId xmlns:p14="http://schemas.microsoft.com/office/powerpoint/2010/main" val="2119204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3"/>
          <p:cNvSpPr txBox="1">
            <a:spLocks noGrp="1"/>
          </p:cNvSpPr>
          <p:nvPr>
            <p:ph type="title"/>
          </p:nvPr>
        </p:nvSpPr>
        <p:spPr>
          <a:xfrm>
            <a:off x="1370400" y="294060"/>
            <a:ext cx="6403200" cy="9456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Paper’s Claims</a:t>
            </a:r>
            <a:endParaRPr dirty="0"/>
          </a:p>
        </p:txBody>
      </p:sp>
      <p:graphicFrame>
        <p:nvGraphicFramePr>
          <p:cNvPr id="2" name="Table 1">
            <a:extLst>
              <a:ext uri="{FF2B5EF4-FFF2-40B4-BE49-F238E27FC236}">
                <a16:creationId xmlns:a16="http://schemas.microsoft.com/office/drawing/2014/main" id="{82F40954-DEB1-2F67-9F7D-506A95AA8BE5}"/>
              </a:ext>
            </a:extLst>
          </p:cNvPr>
          <p:cNvGraphicFramePr>
            <a:graphicFrameLocks noGrp="1"/>
          </p:cNvGraphicFramePr>
          <p:nvPr>
            <p:extLst>
              <p:ext uri="{D42A27DB-BD31-4B8C-83A1-F6EECF244321}">
                <p14:modId xmlns:p14="http://schemas.microsoft.com/office/powerpoint/2010/main" val="3467466701"/>
              </p:ext>
            </p:extLst>
          </p:nvPr>
        </p:nvGraphicFramePr>
        <p:xfrm>
          <a:off x="1524000" y="1356361"/>
          <a:ext cx="6096000" cy="3379748"/>
        </p:xfrm>
        <a:graphic>
          <a:graphicData uri="http://schemas.openxmlformats.org/drawingml/2006/table">
            <a:tbl>
              <a:tblPr firstRow="1" bandRow="1">
                <a:tableStyleId>{C1E1AE28-C92E-4018-B361-92B2406BF72D}</a:tableStyleId>
              </a:tblPr>
              <a:tblGrid>
                <a:gridCol w="1691640">
                  <a:extLst>
                    <a:ext uri="{9D8B030D-6E8A-4147-A177-3AD203B41FA5}">
                      <a16:colId xmlns:a16="http://schemas.microsoft.com/office/drawing/2014/main" val="1015594265"/>
                    </a:ext>
                  </a:extLst>
                </a:gridCol>
                <a:gridCol w="4404360">
                  <a:extLst>
                    <a:ext uri="{9D8B030D-6E8A-4147-A177-3AD203B41FA5}">
                      <a16:colId xmlns:a16="http://schemas.microsoft.com/office/drawing/2014/main" val="1997991858"/>
                    </a:ext>
                  </a:extLst>
                </a:gridCol>
              </a:tblGrid>
              <a:tr h="372632">
                <a:tc>
                  <a:txBody>
                    <a:bodyPr/>
                    <a:lstStyle/>
                    <a:p>
                      <a:pPr algn="ctr"/>
                      <a:r>
                        <a:rPr lang="en-US" b="1" dirty="0">
                          <a:solidFill>
                            <a:schemeClr val="tx1"/>
                          </a:solidFill>
                          <a:latin typeface="Raleway" pitchFamily="2" charset="0"/>
                        </a:rPr>
                        <a:t>Model Name</a:t>
                      </a:r>
                    </a:p>
                  </a:txBody>
                  <a:tcPr anchor="ctr"/>
                </a:tc>
                <a:tc>
                  <a:txBody>
                    <a:bodyPr/>
                    <a:lstStyle/>
                    <a:p>
                      <a:pPr algn="ctr"/>
                      <a:r>
                        <a:rPr lang="en-US" b="1" dirty="0">
                          <a:solidFill>
                            <a:schemeClr val="tx1"/>
                          </a:solidFill>
                          <a:latin typeface="Raleway" pitchFamily="2" charset="0"/>
                        </a:rPr>
                        <a:t>Prediction Performance</a:t>
                      </a:r>
                    </a:p>
                  </a:txBody>
                  <a:tcPr anchor="ctr"/>
                </a:tc>
                <a:extLst>
                  <a:ext uri="{0D108BD9-81ED-4DB2-BD59-A6C34878D82A}">
                    <a16:rowId xmlns:a16="http://schemas.microsoft.com/office/drawing/2014/main" val="2158748156"/>
                  </a:ext>
                </a:extLst>
              </a:tr>
              <a:tr h="372632">
                <a:tc>
                  <a:txBody>
                    <a:bodyPr/>
                    <a:lstStyle/>
                    <a:p>
                      <a:pPr algn="l"/>
                      <a:r>
                        <a:rPr lang="en-US" dirty="0">
                          <a:solidFill>
                            <a:schemeClr val="tx1"/>
                          </a:solidFill>
                          <a:latin typeface="Raleway" pitchFamily="2" charset="0"/>
                        </a:rPr>
                        <a:t>CNN</a:t>
                      </a:r>
                    </a:p>
                  </a:txBody>
                  <a:tcPr anchor="ctr"/>
                </a:tc>
                <a:tc>
                  <a:txBody>
                    <a:bodyPr/>
                    <a:lstStyle/>
                    <a:p>
                      <a:pPr algn="l"/>
                      <a:r>
                        <a:rPr lang="en-US" dirty="0">
                          <a:solidFill>
                            <a:schemeClr val="tx1"/>
                          </a:solidFill>
                          <a:latin typeface="Raleway" pitchFamily="2" charset="0"/>
                        </a:rPr>
                        <a:t>Weak. Fails to capture temporal dependencies</a:t>
                      </a:r>
                    </a:p>
                  </a:txBody>
                  <a:tcPr anchor="ctr"/>
                </a:tc>
                <a:extLst>
                  <a:ext uri="{0D108BD9-81ED-4DB2-BD59-A6C34878D82A}">
                    <a16:rowId xmlns:a16="http://schemas.microsoft.com/office/drawing/2014/main" val="825184994"/>
                  </a:ext>
                </a:extLst>
              </a:tr>
              <a:tr h="372632">
                <a:tc>
                  <a:txBody>
                    <a:bodyPr/>
                    <a:lstStyle/>
                    <a:p>
                      <a:pPr algn="l"/>
                      <a:r>
                        <a:rPr lang="en-US" dirty="0">
                          <a:solidFill>
                            <a:schemeClr val="tx1"/>
                          </a:solidFill>
                          <a:latin typeface="Raleway" pitchFamily="2" charset="0"/>
                        </a:rPr>
                        <a:t>BiLSTM </a:t>
                      </a:r>
                    </a:p>
                  </a:txBody>
                  <a:tcPr anchor="ctr"/>
                </a:tc>
                <a:tc>
                  <a:txBody>
                    <a:bodyPr/>
                    <a:lstStyle/>
                    <a:p>
                      <a:pPr algn="l"/>
                      <a:r>
                        <a:rPr lang="en-US" dirty="0">
                          <a:solidFill>
                            <a:schemeClr val="tx1"/>
                          </a:solidFill>
                          <a:latin typeface="Raleway" pitchFamily="2" charset="0"/>
                        </a:rPr>
                        <a:t>Better than CNN yet have lags (delays)</a:t>
                      </a:r>
                    </a:p>
                  </a:txBody>
                  <a:tcPr anchor="ctr"/>
                </a:tc>
                <a:extLst>
                  <a:ext uri="{0D108BD9-81ED-4DB2-BD59-A6C34878D82A}">
                    <a16:rowId xmlns:a16="http://schemas.microsoft.com/office/drawing/2014/main" val="2969912267"/>
                  </a:ext>
                </a:extLst>
              </a:tr>
              <a:tr h="1316972">
                <a:tc>
                  <a:txBody>
                    <a:bodyPr/>
                    <a:lstStyle/>
                    <a:p>
                      <a:pPr algn="l"/>
                      <a:r>
                        <a:rPr lang="en-US" sz="1600" b="1" dirty="0">
                          <a:solidFill>
                            <a:schemeClr val="tx1"/>
                          </a:solidFill>
                          <a:latin typeface="Raleway" pitchFamily="2" charset="0"/>
                        </a:rPr>
                        <a:t>CNN-BiLSTM (Proposed)</a:t>
                      </a:r>
                    </a:p>
                  </a:txBody>
                  <a:tcPr anchor="ctr"/>
                </a:tc>
                <a:tc>
                  <a:txBody>
                    <a:bodyPr/>
                    <a:lstStyle/>
                    <a:p>
                      <a:pPr algn="l"/>
                      <a:r>
                        <a:rPr lang="en-US" sz="1600" b="1" dirty="0">
                          <a:solidFill>
                            <a:schemeClr val="tx1"/>
                          </a:solidFill>
                          <a:latin typeface="Raleway" pitchFamily="2" charset="0"/>
                        </a:rPr>
                        <a:t>Proposed method</a:t>
                      </a:r>
                    </a:p>
                    <a:p>
                      <a:pPr algn="l"/>
                      <a:r>
                        <a:rPr lang="en-US" sz="1600" b="1" dirty="0">
                          <a:solidFill>
                            <a:schemeClr val="tx1"/>
                          </a:solidFill>
                          <a:latin typeface="Raleway" pitchFamily="2" charset="0"/>
                        </a:rPr>
                        <a:t>Better than both standalone CNN and BiLSTM</a:t>
                      </a:r>
                    </a:p>
                    <a:p>
                      <a:pPr algn="l"/>
                      <a:r>
                        <a:rPr lang="en-US" sz="1600" b="1" dirty="0">
                          <a:solidFill>
                            <a:schemeClr val="tx1"/>
                          </a:solidFill>
                          <a:latin typeface="Raleway" pitchFamily="2" charset="0"/>
                        </a:rPr>
                        <a:t>Captures both temporal and spatial dependencies</a:t>
                      </a:r>
                    </a:p>
                  </a:txBody>
                  <a:tcPr anchor="ctr"/>
                </a:tc>
                <a:extLst>
                  <a:ext uri="{0D108BD9-81ED-4DB2-BD59-A6C34878D82A}">
                    <a16:rowId xmlns:a16="http://schemas.microsoft.com/office/drawing/2014/main" val="2639898165"/>
                  </a:ext>
                </a:extLst>
              </a:tr>
              <a:tr h="735054">
                <a:tc>
                  <a:txBody>
                    <a:bodyPr/>
                    <a:lstStyle/>
                    <a:p>
                      <a:pPr algn="l"/>
                      <a:r>
                        <a:rPr lang="en-US" dirty="0">
                          <a:solidFill>
                            <a:schemeClr val="tx1"/>
                          </a:solidFill>
                          <a:latin typeface="Raleway" pitchFamily="2" charset="0"/>
                        </a:rPr>
                        <a:t>Ensemble Models (LGBM, </a:t>
                      </a:r>
                      <a:r>
                        <a:rPr lang="en-US" dirty="0" err="1">
                          <a:solidFill>
                            <a:schemeClr val="tx1"/>
                          </a:solidFill>
                          <a:latin typeface="Raleway" pitchFamily="2" charset="0"/>
                        </a:rPr>
                        <a:t>XGBoost</a:t>
                      </a:r>
                      <a:r>
                        <a:rPr lang="en-US" dirty="0">
                          <a:solidFill>
                            <a:schemeClr val="tx1"/>
                          </a:solidFill>
                          <a:latin typeface="Raleway" pitchFamily="2" charset="0"/>
                        </a:rPr>
                        <a:t>, </a:t>
                      </a:r>
                      <a:r>
                        <a:rPr lang="en-US" dirty="0" err="1">
                          <a:solidFill>
                            <a:schemeClr val="tx1"/>
                          </a:solidFill>
                          <a:latin typeface="Raleway" pitchFamily="2" charset="0"/>
                        </a:rPr>
                        <a:t>CatBoost</a:t>
                      </a:r>
                      <a:r>
                        <a:rPr lang="en-US" dirty="0">
                          <a:solidFill>
                            <a:schemeClr val="tx1"/>
                          </a:solidFill>
                          <a:latin typeface="Raleway" pitchFamily="2" charset="0"/>
                        </a:rPr>
                        <a:t>)</a:t>
                      </a:r>
                    </a:p>
                  </a:txBody>
                  <a:tcPr anchor="ctr"/>
                </a:tc>
                <a:tc>
                  <a:txBody>
                    <a:bodyPr/>
                    <a:lstStyle/>
                    <a:p>
                      <a:pPr algn="l"/>
                      <a:r>
                        <a:rPr lang="en-US" dirty="0">
                          <a:solidFill>
                            <a:schemeClr val="tx1"/>
                          </a:solidFill>
                          <a:latin typeface="Raleway" pitchFamily="2" charset="0"/>
                        </a:rPr>
                        <a:t>Inherently great for prediction</a:t>
                      </a:r>
                    </a:p>
                    <a:p>
                      <a:pPr algn="l"/>
                      <a:r>
                        <a:rPr lang="en-US" dirty="0">
                          <a:solidFill>
                            <a:schemeClr val="tx1"/>
                          </a:solidFill>
                          <a:latin typeface="Raleway" pitchFamily="2" charset="0"/>
                        </a:rPr>
                        <a:t>Capturing more meaningful features (lags and means)</a:t>
                      </a:r>
                    </a:p>
                    <a:p>
                      <a:pPr algn="l"/>
                      <a:r>
                        <a:rPr lang="en-US" dirty="0">
                          <a:solidFill>
                            <a:schemeClr val="tx1"/>
                          </a:solidFill>
                          <a:latin typeface="Raleway" pitchFamily="2" charset="0"/>
                        </a:rPr>
                        <a:t>Yet fails against proposed model</a:t>
                      </a:r>
                    </a:p>
                  </a:txBody>
                  <a:tcPr anchor="ctr"/>
                </a:tc>
                <a:extLst>
                  <a:ext uri="{0D108BD9-81ED-4DB2-BD59-A6C34878D82A}">
                    <a16:rowId xmlns:a16="http://schemas.microsoft.com/office/drawing/2014/main" val="372393442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ED42-EC3F-D472-B587-17A639BD6902}"/>
              </a:ext>
            </a:extLst>
          </p:cNvPr>
          <p:cNvSpPr>
            <a:spLocks noGrp="1"/>
          </p:cNvSpPr>
          <p:nvPr>
            <p:ph type="title"/>
          </p:nvPr>
        </p:nvSpPr>
        <p:spPr/>
        <p:txBody>
          <a:bodyPr/>
          <a:lstStyle/>
          <a:p>
            <a:r>
              <a:rPr lang="en-US" dirty="0"/>
              <a:t>Performance Metrics</a:t>
            </a:r>
          </a:p>
        </p:txBody>
      </p:sp>
      <p:sp>
        <p:nvSpPr>
          <p:cNvPr id="3" name="Text Placeholder 2">
            <a:extLst>
              <a:ext uri="{FF2B5EF4-FFF2-40B4-BE49-F238E27FC236}">
                <a16:creationId xmlns:a16="http://schemas.microsoft.com/office/drawing/2014/main" id="{98B9C7E7-06F2-B6AB-570A-89679B53BF1F}"/>
              </a:ext>
            </a:extLst>
          </p:cNvPr>
          <p:cNvSpPr>
            <a:spLocks noGrp="1"/>
          </p:cNvSpPr>
          <p:nvPr>
            <p:ph type="body" idx="1"/>
          </p:nvPr>
        </p:nvSpPr>
        <p:spPr/>
        <p:txBody>
          <a:bodyPr/>
          <a:lstStyle/>
          <a:p>
            <a:pPr marL="495300" indent="-342900">
              <a:lnSpc>
                <a:spcPct val="150000"/>
              </a:lnSpc>
              <a:buFont typeface="+mj-lt"/>
              <a:buAutoNum type="arabicPeriod"/>
            </a:pPr>
            <a:endParaRPr lang="en-US" sz="1400" b="1" dirty="0"/>
          </a:p>
          <a:p>
            <a:pPr marL="495300" indent="-342900">
              <a:lnSpc>
                <a:spcPct val="150000"/>
              </a:lnSpc>
              <a:buFont typeface="+mj-lt"/>
              <a:buAutoNum type="arabicPeriod"/>
            </a:pPr>
            <a:r>
              <a:rPr lang="en-US" sz="1400" b="1" dirty="0"/>
              <a:t>MSE / RMSE:</a:t>
            </a:r>
            <a:r>
              <a:rPr lang="en-US" sz="1400" dirty="0"/>
              <a:t> Sensitive to large errors due to squaring, ideal for identifying significant deviations from actual values. </a:t>
            </a:r>
          </a:p>
          <a:p>
            <a:pPr marL="495300" indent="-342900">
              <a:lnSpc>
                <a:spcPct val="150000"/>
              </a:lnSpc>
              <a:buFont typeface="+mj-lt"/>
              <a:buAutoNum type="arabicPeriod"/>
            </a:pPr>
            <a:r>
              <a:rPr lang="en-US" sz="1400" b="1" dirty="0"/>
              <a:t>MAE:</a:t>
            </a:r>
            <a:r>
              <a:rPr lang="en-US" sz="1400" dirty="0"/>
              <a:t> Represents the average absolute error, offering a linear score that is intuitive for estimating operational costs and typical error magnitudes.</a:t>
            </a:r>
          </a:p>
          <a:p>
            <a:pPr marL="495300" indent="-342900">
              <a:lnSpc>
                <a:spcPct val="150000"/>
              </a:lnSpc>
              <a:buFont typeface="+mj-lt"/>
              <a:buAutoNum type="arabicPeriod"/>
            </a:pPr>
            <a:r>
              <a:rPr lang="en-US" sz="1400" b="1" dirty="0"/>
              <a:t>R-squared (R²):</a:t>
            </a:r>
            <a:r>
              <a:rPr lang="en-US" sz="1400" dirty="0"/>
              <a:t> Indicates the proportion of variance in the dependent variable explained by the model. A value closer to 1 signifies a better fit.</a:t>
            </a:r>
          </a:p>
          <a:p>
            <a:pPr marL="495300" indent="-342900">
              <a:lnSpc>
                <a:spcPct val="150000"/>
              </a:lnSpc>
              <a:buFont typeface="+mj-lt"/>
              <a:buAutoNum type="arabicPeriod"/>
            </a:pPr>
            <a:r>
              <a:rPr lang="en-US" sz="1400" b="1" dirty="0"/>
              <a:t>MAPE:</a:t>
            </a:r>
            <a:r>
              <a:rPr lang="en-US" sz="1400" dirty="0"/>
              <a:t> Expresses prediction accuracy as a percentage of the actual values, making it useful for comparing forecast performance across different datasets or scales.</a:t>
            </a:r>
          </a:p>
        </p:txBody>
      </p:sp>
    </p:spTree>
    <p:extLst>
      <p:ext uri="{BB962C8B-B14F-4D97-AF65-F5344CB8AC3E}">
        <p14:creationId xmlns:p14="http://schemas.microsoft.com/office/powerpoint/2010/main" val="3247686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1">
          <a:extLst>
            <a:ext uri="{FF2B5EF4-FFF2-40B4-BE49-F238E27FC236}">
              <a16:creationId xmlns:a16="http://schemas.microsoft.com/office/drawing/2014/main" id="{3453FD8F-5D91-DB6E-6B97-D52B1E964730}"/>
            </a:ext>
          </a:extLst>
        </p:cNvPr>
        <p:cNvGrpSpPr/>
        <p:nvPr/>
      </p:nvGrpSpPr>
      <p:grpSpPr>
        <a:xfrm>
          <a:off x="0" y="0"/>
          <a:ext cx="0" cy="0"/>
          <a:chOff x="0" y="0"/>
          <a:chExt cx="0" cy="0"/>
        </a:xfrm>
      </p:grpSpPr>
      <p:sp>
        <p:nvSpPr>
          <p:cNvPr id="312" name="Google Shape;312;p33">
            <a:extLst>
              <a:ext uri="{FF2B5EF4-FFF2-40B4-BE49-F238E27FC236}">
                <a16:creationId xmlns:a16="http://schemas.microsoft.com/office/drawing/2014/main" id="{8F3C1640-18AD-227F-D1C9-EBDA13654302}"/>
              </a:ext>
            </a:extLst>
          </p:cNvPr>
          <p:cNvSpPr txBox="1">
            <a:spLocks noGrp="1"/>
          </p:cNvSpPr>
          <p:nvPr>
            <p:ph type="title"/>
          </p:nvPr>
        </p:nvSpPr>
        <p:spPr>
          <a:xfrm>
            <a:off x="1370400" y="294060"/>
            <a:ext cx="6403200" cy="7422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Paper’s Findings</a:t>
            </a:r>
            <a:endParaRPr dirty="0"/>
          </a:p>
        </p:txBody>
      </p:sp>
      <p:pic>
        <p:nvPicPr>
          <p:cNvPr id="6" name="Picture 5" descr="A table with numbers and letters&#10;&#10;AI-generated content may be incorrect.">
            <a:extLst>
              <a:ext uri="{FF2B5EF4-FFF2-40B4-BE49-F238E27FC236}">
                <a16:creationId xmlns:a16="http://schemas.microsoft.com/office/drawing/2014/main" id="{04AC1CBD-9DD8-7965-DD91-AA65E825C58F}"/>
              </a:ext>
            </a:extLst>
          </p:cNvPr>
          <p:cNvPicPr>
            <a:picLocks noChangeAspect="1"/>
          </p:cNvPicPr>
          <p:nvPr/>
        </p:nvPicPr>
        <p:blipFill>
          <a:blip r:embed="rId3"/>
          <a:stretch>
            <a:fillRect/>
          </a:stretch>
        </p:blipFill>
        <p:spPr>
          <a:xfrm>
            <a:off x="616877" y="1535340"/>
            <a:ext cx="7910245" cy="207282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1334A83-7A6A-B222-74E9-A0AD1CB9827E}"/>
                  </a:ext>
                </a:extLst>
              </p14:cNvPr>
              <p14:cNvContentPartPr/>
              <p14:nvPr/>
            </p14:nvContentPartPr>
            <p14:xfrm>
              <a:off x="4535328" y="3352800"/>
              <a:ext cx="256320" cy="360"/>
            </p14:xfrm>
          </p:contentPart>
        </mc:Choice>
        <mc:Fallback xmlns="">
          <p:pic>
            <p:nvPicPr>
              <p:cNvPr id="4" name="Ink 3">
                <a:extLst>
                  <a:ext uri="{FF2B5EF4-FFF2-40B4-BE49-F238E27FC236}">
                    <a16:creationId xmlns:a16="http://schemas.microsoft.com/office/drawing/2014/main" id="{21334A83-7A6A-B222-74E9-A0AD1CB9827E}"/>
                  </a:ext>
                </a:extLst>
              </p:cNvPr>
              <p:cNvPicPr/>
              <p:nvPr/>
            </p:nvPicPr>
            <p:blipFill>
              <a:blip r:embed="rId5"/>
              <a:stretch>
                <a:fillRect/>
              </a:stretch>
            </p:blipFill>
            <p:spPr>
              <a:xfrm>
                <a:off x="4499328" y="3280800"/>
                <a:ext cx="3279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111CA49E-9BBA-0AE8-1C95-761ABE391EAB}"/>
                  </a:ext>
                </a:extLst>
              </p14:cNvPr>
              <p14:cNvContentPartPr/>
              <p14:nvPr/>
            </p14:nvContentPartPr>
            <p14:xfrm>
              <a:off x="4267008" y="1944624"/>
              <a:ext cx="829248" cy="360"/>
            </p14:xfrm>
          </p:contentPart>
        </mc:Choice>
        <mc:Fallback xmlns="">
          <p:pic>
            <p:nvPicPr>
              <p:cNvPr id="5" name="Ink 4">
                <a:extLst>
                  <a:ext uri="{FF2B5EF4-FFF2-40B4-BE49-F238E27FC236}">
                    <a16:creationId xmlns:a16="http://schemas.microsoft.com/office/drawing/2014/main" id="{111CA49E-9BBA-0AE8-1C95-761ABE391EAB}"/>
                  </a:ext>
                </a:extLst>
              </p:cNvPr>
              <p:cNvPicPr/>
              <p:nvPr/>
            </p:nvPicPr>
            <p:blipFill>
              <a:blip r:embed="rId7"/>
              <a:stretch>
                <a:fillRect/>
              </a:stretch>
            </p:blipFill>
            <p:spPr>
              <a:xfrm>
                <a:off x="4230985" y="1872624"/>
                <a:ext cx="900934"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F34E0E96-7997-F20A-8DD7-E83358D65B06}"/>
                  </a:ext>
                </a:extLst>
              </p14:cNvPr>
              <p14:cNvContentPartPr/>
              <p14:nvPr/>
            </p14:nvContentPartPr>
            <p14:xfrm>
              <a:off x="4535328" y="3198157"/>
              <a:ext cx="256320" cy="360"/>
            </p14:xfrm>
          </p:contentPart>
        </mc:Choice>
        <mc:Fallback xmlns="">
          <p:pic>
            <p:nvPicPr>
              <p:cNvPr id="7" name="Ink 6">
                <a:extLst>
                  <a:ext uri="{FF2B5EF4-FFF2-40B4-BE49-F238E27FC236}">
                    <a16:creationId xmlns:a16="http://schemas.microsoft.com/office/drawing/2014/main" id="{F34E0E96-7997-F20A-8DD7-E83358D65B06}"/>
                  </a:ext>
                </a:extLst>
              </p:cNvPr>
              <p:cNvPicPr/>
              <p:nvPr/>
            </p:nvPicPr>
            <p:blipFill>
              <a:blip r:embed="rId5"/>
              <a:stretch>
                <a:fillRect/>
              </a:stretch>
            </p:blipFill>
            <p:spPr>
              <a:xfrm>
                <a:off x="4499328" y="3126157"/>
                <a:ext cx="3279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A47EDB05-5AE2-041F-C130-33452696314D}"/>
                  </a:ext>
                </a:extLst>
              </p14:cNvPr>
              <p14:cNvContentPartPr/>
              <p14:nvPr/>
            </p14:nvContentPartPr>
            <p14:xfrm>
              <a:off x="4535328" y="3043514"/>
              <a:ext cx="256320" cy="360"/>
            </p14:xfrm>
          </p:contentPart>
        </mc:Choice>
        <mc:Fallback xmlns="">
          <p:pic>
            <p:nvPicPr>
              <p:cNvPr id="8" name="Ink 7">
                <a:extLst>
                  <a:ext uri="{FF2B5EF4-FFF2-40B4-BE49-F238E27FC236}">
                    <a16:creationId xmlns:a16="http://schemas.microsoft.com/office/drawing/2014/main" id="{A47EDB05-5AE2-041F-C130-33452696314D}"/>
                  </a:ext>
                </a:extLst>
              </p:cNvPr>
              <p:cNvPicPr/>
              <p:nvPr/>
            </p:nvPicPr>
            <p:blipFill>
              <a:blip r:embed="rId5"/>
              <a:stretch>
                <a:fillRect/>
              </a:stretch>
            </p:blipFill>
            <p:spPr>
              <a:xfrm>
                <a:off x="4499328" y="2971514"/>
                <a:ext cx="3279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C79B50F2-60FC-82D4-EE4F-659566A5E1FF}"/>
                  </a:ext>
                </a:extLst>
              </p14:cNvPr>
              <p14:cNvContentPartPr/>
              <p14:nvPr/>
            </p14:nvContentPartPr>
            <p14:xfrm>
              <a:off x="4535328" y="2888871"/>
              <a:ext cx="256320" cy="360"/>
            </p14:xfrm>
          </p:contentPart>
        </mc:Choice>
        <mc:Fallback xmlns="">
          <p:pic>
            <p:nvPicPr>
              <p:cNvPr id="9" name="Ink 8">
                <a:extLst>
                  <a:ext uri="{FF2B5EF4-FFF2-40B4-BE49-F238E27FC236}">
                    <a16:creationId xmlns:a16="http://schemas.microsoft.com/office/drawing/2014/main" id="{C79B50F2-60FC-82D4-EE4F-659566A5E1FF}"/>
                  </a:ext>
                </a:extLst>
              </p:cNvPr>
              <p:cNvPicPr/>
              <p:nvPr/>
            </p:nvPicPr>
            <p:blipFill>
              <a:blip r:embed="rId5"/>
              <a:stretch>
                <a:fillRect/>
              </a:stretch>
            </p:blipFill>
            <p:spPr>
              <a:xfrm>
                <a:off x="4499328" y="2816871"/>
                <a:ext cx="3279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3078E54-3EAC-7E4E-A765-7A960BE55DD0}"/>
                  </a:ext>
                </a:extLst>
              </p14:cNvPr>
              <p14:cNvContentPartPr/>
              <p14:nvPr/>
            </p14:nvContentPartPr>
            <p14:xfrm>
              <a:off x="4477512" y="2734228"/>
              <a:ext cx="371952" cy="360"/>
            </p14:xfrm>
          </p:contentPart>
        </mc:Choice>
        <mc:Fallback xmlns="">
          <p:pic>
            <p:nvPicPr>
              <p:cNvPr id="10" name="Ink 9">
                <a:extLst>
                  <a:ext uri="{FF2B5EF4-FFF2-40B4-BE49-F238E27FC236}">
                    <a16:creationId xmlns:a16="http://schemas.microsoft.com/office/drawing/2014/main" id="{63078E54-3EAC-7E4E-A765-7A960BE55DD0}"/>
                  </a:ext>
                </a:extLst>
              </p:cNvPr>
              <p:cNvPicPr/>
              <p:nvPr/>
            </p:nvPicPr>
            <p:blipFill>
              <a:blip r:embed="rId5"/>
              <a:stretch>
                <a:fillRect/>
              </a:stretch>
            </p:blipFill>
            <p:spPr>
              <a:xfrm>
                <a:off x="4441865" y="2662228"/>
                <a:ext cx="443606" cy="144000"/>
              </a:xfrm>
              <a:prstGeom prst="rect">
                <a:avLst/>
              </a:prstGeom>
            </p:spPr>
          </p:pic>
        </mc:Fallback>
      </mc:AlternateContent>
    </p:spTree>
    <p:extLst>
      <p:ext uri="{BB962C8B-B14F-4D97-AF65-F5344CB8AC3E}">
        <p14:creationId xmlns:p14="http://schemas.microsoft.com/office/powerpoint/2010/main" val="2101404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1">
          <a:extLst>
            <a:ext uri="{FF2B5EF4-FFF2-40B4-BE49-F238E27FC236}">
              <a16:creationId xmlns:a16="http://schemas.microsoft.com/office/drawing/2014/main" id="{9DCF4D41-8048-A951-A5FA-88402DB6F94C}"/>
            </a:ext>
          </a:extLst>
        </p:cNvPr>
        <p:cNvGrpSpPr/>
        <p:nvPr/>
      </p:nvGrpSpPr>
      <p:grpSpPr>
        <a:xfrm>
          <a:off x="0" y="0"/>
          <a:ext cx="0" cy="0"/>
          <a:chOff x="0" y="0"/>
          <a:chExt cx="0" cy="0"/>
        </a:xfrm>
      </p:grpSpPr>
      <p:sp>
        <p:nvSpPr>
          <p:cNvPr id="312" name="Google Shape;312;p33">
            <a:extLst>
              <a:ext uri="{FF2B5EF4-FFF2-40B4-BE49-F238E27FC236}">
                <a16:creationId xmlns:a16="http://schemas.microsoft.com/office/drawing/2014/main" id="{E605FFDB-47B5-FEA9-8E96-01E739F084B2}"/>
              </a:ext>
            </a:extLst>
          </p:cNvPr>
          <p:cNvSpPr txBox="1">
            <a:spLocks noGrp="1"/>
          </p:cNvSpPr>
          <p:nvPr>
            <p:ph type="title"/>
          </p:nvPr>
        </p:nvSpPr>
        <p:spPr>
          <a:xfrm>
            <a:off x="1370400" y="294060"/>
            <a:ext cx="6403200" cy="7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Paper’s Findings (cont.)</a:t>
            </a:r>
            <a:endParaRPr dirty="0"/>
          </a:p>
        </p:txBody>
      </p:sp>
      <p:pic>
        <p:nvPicPr>
          <p:cNvPr id="3" name="Picture 2" descr="A group of graphs with numbers and text">
            <a:extLst>
              <a:ext uri="{FF2B5EF4-FFF2-40B4-BE49-F238E27FC236}">
                <a16:creationId xmlns:a16="http://schemas.microsoft.com/office/drawing/2014/main" id="{4B2201D9-565A-AFF1-7C1F-913D3E93764C}"/>
              </a:ext>
            </a:extLst>
          </p:cNvPr>
          <p:cNvPicPr>
            <a:picLocks noChangeAspect="1"/>
          </p:cNvPicPr>
          <p:nvPr/>
        </p:nvPicPr>
        <p:blipFill>
          <a:blip r:embed="rId3"/>
          <a:stretch>
            <a:fillRect/>
          </a:stretch>
        </p:blipFill>
        <p:spPr>
          <a:xfrm>
            <a:off x="2720088" y="1082040"/>
            <a:ext cx="3703823" cy="3833703"/>
          </a:xfrm>
          <a:prstGeom prst="rect">
            <a:avLst/>
          </a:prstGeom>
        </p:spPr>
      </p:pic>
    </p:spTree>
    <p:extLst>
      <p:ext uri="{BB962C8B-B14F-4D97-AF65-F5344CB8AC3E}">
        <p14:creationId xmlns:p14="http://schemas.microsoft.com/office/powerpoint/2010/main" val="3617404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2"/>
          <p:cNvSpPr txBox="1">
            <a:spLocks noGrp="1"/>
          </p:cNvSpPr>
          <p:nvPr>
            <p:ph type="title"/>
          </p:nvPr>
        </p:nvSpPr>
        <p:spPr>
          <a:xfrm>
            <a:off x="720000" y="445025"/>
            <a:ext cx="77040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Phase 2 &amp; 3 Roadmap</a:t>
            </a:r>
            <a:endParaRPr dirty="0"/>
          </a:p>
        </p:txBody>
      </p:sp>
      <p:sp>
        <p:nvSpPr>
          <p:cNvPr id="292" name="Google Shape;292;p32"/>
          <p:cNvSpPr txBox="1">
            <a:spLocks noGrp="1"/>
          </p:cNvSpPr>
          <p:nvPr>
            <p:ph type="title" idx="2"/>
          </p:nvPr>
        </p:nvSpPr>
        <p:spPr>
          <a:xfrm>
            <a:off x="719990" y="1485883"/>
            <a:ext cx="6402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2">
                    <a:lumMod val="40000"/>
                    <a:lumOff val="60000"/>
                  </a:schemeClr>
                </a:solidFill>
              </a:rPr>
              <a:t>01</a:t>
            </a:r>
            <a:endParaRPr dirty="0">
              <a:solidFill>
                <a:schemeClr val="bg2">
                  <a:lumMod val="40000"/>
                  <a:lumOff val="60000"/>
                </a:schemeClr>
              </a:solidFill>
            </a:endParaRPr>
          </a:p>
        </p:txBody>
      </p:sp>
      <p:sp>
        <p:nvSpPr>
          <p:cNvPr id="293" name="Google Shape;293;p32"/>
          <p:cNvSpPr txBox="1">
            <a:spLocks noGrp="1"/>
          </p:cNvSpPr>
          <p:nvPr>
            <p:ph type="title" idx="3"/>
          </p:nvPr>
        </p:nvSpPr>
        <p:spPr>
          <a:xfrm>
            <a:off x="719990" y="3071691"/>
            <a:ext cx="6402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2">
                    <a:lumMod val="40000"/>
                    <a:lumOff val="60000"/>
                  </a:schemeClr>
                </a:solidFill>
              </a:rPr>
              <a:t>04</a:t>
            </a:r>
            <a:endParaRPr dirty="0">
              <a:solidFill>
                <a:schemeClr val="bg2">
                  <a:lumMod val="40000"/>
                  <a:lumOff val="60000"/>
                </a:schemeClr>
              </a:solidFill>
            </a:endParaRPr>
          </a:p>
        </p:txBody>
      </p:sp>
      <p:sp>
        <p:nvSpPr>
          <p:cNvPr id="294" name="Google Shape;294;p32"/>
          <p:cNvSpPr txBox="1">
            <a:spLocks noGrp="1"/>
          </p:cNvSpPr>
          <p:nvPr>
            <p:ph type="title" idx="4"/>
          </p:nvPr>
        </p:nvSpPr>
        <p:spPr>
          <a:xfrm>
            <a:off x="3395853" y="1485883"/>
            <a:ext cx="6402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bg2">
                    <a:lumMod val="40000"/>
                    <a:lumOff val="60000"/>
                  </a:schemeClr>
                </a:solidFill>
              </a:rPr>
              <a:t>02</a:t>
            </a:r>
            <a:endParaRPr>
              <a:solidFill>
                <a:schemeClr val="bg2">
                  <a:lumMod val="40000"/>
                  <a:lumOff val="60000"/>
                </a:schemeClr>
              </a:solidFill>
            </a:endParaRPr>
          </a:p>
        </p:txBody>
      </p:sp>
      <p:sp>
        <p:nvSpPr>
          <p:cNvPr id="295" name="Google Shape;295;p32"/>
          <p:cNvSpPr txBox="1">
            <a:spLocks noGrp="1"/>
          </p:cNvSpPr>
          <p:nvPr>
            <p:ph type="title" idx="5"/>
          </p:nvPr>
        </p:nvSpPr>
        <p:spPr>
          <a:xfrm>
            <a:off x="3395853" y="3071691"/>
            <a:ext cx="640200" cy="64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lumMod val="75000"/>
                  </a:schemeClr>
                </a:solidFill>
              </a:rPr>
              <a:t>05</a:t>
            </a:r>
            <a:endParaRPr dirty="0">
              <a:solidFill>
                <a:schemeClr val="accent2">
                  <a:lumMod val="75000"/>
                </a:schemeClr>
              </a:solidFill>
            </a:endParaRPr>
          </a:p>
        </p:txBody>
      </p:sp>
      <p:sp>
        <p:nvSpPr>
          <p:cNvPr id="296" name="Google Shape;296;p32"/>
          <p:cNvSpPr txBox="1">
            <a:spLocks noGrp="1"/>
          </p:cNvSpPr>
          <p:nvPr>
            <p:ph type="title" idx="6"/>
          </p:nvPr>
        </p:nvSpPr>
        <p:spPr>
          <a:xfrm>
            <a:off x="6071690" y="1485883"/>
            <a:ext cx="6402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bg2">
                    <a:lumMod val="40000"/>
                    <a:lumOff val="60000"/>
                  </a:schemeClr>
                </a:solidFill>
              </a:rPr>
              <a:t>03</a:t>
            </a:r>
            <a:endParaRPr>
              <a:solidFill>
                <a:schemeClr val="bg2">
                  <a:lumMod val="40000"/>
                  <a:lumOff val="60000"/>
                </a:schemeClr>
              </a:solidFill>
            </a:endParaRPr>
          </a:p>
        </p:txBody>
      </p:sp>
      <p:sp>
        <p:nvSpPr>
          <p:cNvPr id="297" name="Google Shape;297;p32"/>
          <p:cNvSpPr txBox="1">
            <a:spLocks noGrp="1"/>
          </p:cNvSpPr>
          <p:nvPr>
            <p:ph type="title" idx="7"/>
          </p:nvPr>
        </p:nvSpPr>
        <p:spPr>
          <a:xfrm>
            <a:off x="6071690" y="3071691"/>
            <a:ext cx="6402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lumMod val="75000"/>
                  </a:schemeClr>
                </a:solidFill>
              </a:rPr>
              <a:t>06</a:t>
            </a:r>
            <a:endParaRPr dirty="0">
              <a:solidFill>
                <a:schemeClr val="accent2">
                  <a:lumMod val="75000"/>
                </a:schemeClr>
              </a:solidFill>
            </a:endParaRPr>
          </a:p>
        </p:txBody>
      </p:sp>
      <p:sp>
        <p:nvSpPr>
          <p:cNvPr id="298" name="Google Shape;298;p32"/>
          <p:cNvSpPr txBox="1">
            <a:spLocks noGrp="1"/>
          </p:cNvSpPr>
          <p:nvPr>
            <p:ph type="subTitle" idx="1"/>
          </p:nvPr>
        </p:nvSpPr>
        <p:spPr>
          <a:xfrm>
            <a:off x="719990" y="2069875"/>
            <a:ext cx="23523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lumMod val="40000"/>
                    <a:lumOff val="60000"/>
                  </a:schemeClr>
                </a:solidFill>
              </a:rPr>
              <a:t>Standalone CNN</a:t>
            </a:r>
            <a:endParaRPr dirty="0">
              <a:solidFill>
                <a:schemeClr val="bg2">
                  <a:lumMod val="40000"/>
                  <a:lumOff val="60000"/>
                </a:schemeClr>
              </a:solidFill>
            </a:endParaRPr>
          </a:p>
        </p:txBody>
      </p:sp>
      <p:sp>
        <p:nvSpPr>
          <p:cNvPr id="299" name="Google Shape;299;p32"/>
          <p:cNvSpPr txBox="1">
            <a:spLocks noGrp="1"/>
          </p:cNvSpPr>
          <p:nvPr>
            <p:ph type="subTitle" idx="8"/>
          </p:nvPr>
        </p:nvSpPr>
        <p:spPr>
          <a:xfrm>
            <a:off x="3395853" y="2069875"/>
            <a:ext cx="2352300" cy="461700"/>
          </a:xfrm>
          <a:prstGeom prst="rect">
            <a:avLst/>
          </a:prstGeom>
        </p:spPr>
        <p:txBody>
          <a:bodyPr spcFirstLastPara="1" wrap="square" lIns="91425" tIns="91425" rIns="91425" bIns="91425" anchor="t" anchorCtr="0">
            <a:noAutofit/>
          </a:bodyPr>
          <a:lstStyle/>
          <a:p>
            <a:pPr marL="0" lvl="0" indent="0"/>
            <a:r>
              <a:rPr lang="en-US" dirty="0">
                <a:solidFill>
                  <a:schemeClr val="bg2">
                    <a:lumMod val="40000"/>
                    <a:lumOff val="60000"/>
                  </a:schemeClr>
                </a:solidFill>
              </a:rPr>
              <a:t>Standalone BiLSTM</a:t>
            </a:r>
          </a:p>
        </p:txBody>
      </p:sp>
      <p:sp>
        <p:nvSpPr>
          <p:cNvPr id="300" name="Google Shape;300;p32"/>
          <p:cNvSpPr txBox="1">
            <a:spLocks noGrp="1"/>
          </p:cNvSpPr>
          <p:nvPr>
            <p:ph type="subTitle" idx="9"/>
          </p:nvPr>
        </p:nvSpPr>
        <p:spPr>
          <a:xfrm>
            <a:off x="6071690" y="2069875"/>
            <a:ext cx="23523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lumMod val="40000"/>
                    <a:lumOff val="60000"/>
                  </a:schemeClr>
                </a:solidFill>
              </a:rPr>
              <a:t>CNN-BiLSTM</a:t>
            </a:r>
            <a:endParaRPr dirty="0">
              <a:solidFill>
                <a:schemeClr val="bg2">
                  <a:lumMod val="40000"/>
                  <a:lumOff val="60000"/>
                </a:schemeClr>
              </a:solidFill>
            </a:endParaRPr>
          </a:p>
        </p:txBody>
      </p:sp>
      <p:sp>
        <p:nvSpPr>
          <p:cNvPr id="301" name="Google Shape;301;p32"/>
          <p:cNvSpPr txBox="1">
            <a:spLocks noGrp="1"/>
          </p:cNvSpPr>
          <p:nvPr>
            <p:ph type="subTitle" idx="13"/>
          </p:nvPr>
        </p:nvSpPr>
        <p:spPr>
          <a:xfrm>
            <a:off x="719990" y="3655750"/>
            <a:ext cx="23523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lumMod val="40000"/>
                    <a:lumOff val="60000"/>
                  </a:schemeClr>
                </a:solidFill>
              </a:rPr>
              <a:t>GB Family</a:t>
            </a:r>
            <a:endParaRPr dirty="0">
              <a:solidFill>
                <a:schemeClr val="bg2">
                  <a:lumMod val="40000"/>
                  <a:lumOff val="60000"/>
                </a:schemeClr>
              </a:solidFill>
            </a:endParaRPr>
          </a:p>
        </p:txBody>
      </p:sp>
      <p:sp>
        <p:nvSpPr>
          <p:cNvPr id="302" name="Google Shape;302;p32"/>
          <p:cNvSpPr txBox="1">
            <a:spLocks noGrp="1"/>
          </p:cNvSpPr>
          <p:nvPr>
            <p:ph type="subTitle" idx="14"/>
          </p:nvPr>
        </p:nvSpPr>
        <p:spPr>
          <a:xfrm>
            <a:off x="3395853" y="3655750"/>
            <a:ext cx="23523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lumMod val="75000"/>
                  </a:schemeClr>
                </a:solidFill>
              </a:rPr>
              <a:t>Plotting</a:t>
            </a:r>
            <a:endParaRPr dirty="0">
              <a:solidFill>
                <a:schemeClr val="accent2">
                  <a:lumMod val="75000"/>
                </a:schemeClr>
              </a:solidFill>
            </a:endParaRPr>
          </a:p>
        </p:txBody>
      </p:sp>
      <p:sp>
        <p:nvSpPr>
          <p:cNvPr id="303" name="Google Shape;303;p32"/>
          <p:cNvSpPr txBox="1">
            <a:spLocks noGrp="1"/>
          </p:cNvSpPr>
          <p:nvPr>
            <p:ph type="subTitle" idx="15"/>
          </p:nvPr>
        </p:nvSpPr>
        <p:spPr>
          <a:xfrm>
            <a:off x="6071690" y="3655750"/>
            <a:ext cx="23523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lumMod val="75000"/>
                  </a:schemeClr>
                </a:solidFill>
              </a:rPr>
              <a:t>Analysis</a:t>
            </a:r>
            <a:endParaRPr dirty="0">
              <a:solidFill>
                <a:schemeClr val="accent2">
                  <a:lumMod val="75000"/>
                </a:schemeClr>
              </a:solidFill>
            </a:endParaRPr>
          </a:p>
        </p:txBody>
      </p:sp>
      <p:grpSp>
        <p:nvGrpSpPr>
          <p:cNvPr id="304" name="Google Shape;304;p32"/>
          <p:cNvGrpSpPr/>
          <p:nvPr/>
        </p:nvGrpSpPr>
        <p:grpSpPr>
          <a:xfrm>
            <a:off x="7450000" y="4376900"/>
            <a:ext cx="974000" cy="227100"/>
            <a:chOff x="415725" y="425950"/>
            <a:chExt cx="974000" cy="227100"/>
          </a:xfrm>
        </p:grpSpPr>
        <p:sp>
          <p:nvSpPr>
            <p:cNvPr id="305" name="Google Shape;305;p32"/>
            <p:cNvSpPr/>
            <p:nvPr/>
          </p:nvSpPr>
          <p:spPr>
            <a:xfrm>
              <a:off x="4157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306" name="Google Shape;306;p32"/>
            <p:cNvSpPr/>
            <p:nvPr/>
          </p:nvSpPr>
          <p:spPr>
            <a:xfrm>
              <a:off x="78917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307" name="Google Shape;307;p32"/>
            <p:cNvSpPr/>
            <p:nvPr/>
          </p:nvSpPr>
          <p:spPr>
            <a:xfrm>
              <a:off x="1162625" y="425950"/>
              <a:ext cx="227100" cy="22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2412-7632-A0D3-F2DD-E66BA4DBE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A3A06-45AC-F673-2EC9-801960298724}"/>
              </a:ext>
            </a:extLst>
          </p:cNvPr>
          <p:cNvSpPr>
            <a:spLocks noGrp="1"/>
          </p:cNvSpPr>
          <p:nvPr>
            <p:ph type="title"/>
          </p:nvPr>
        </p:nvSpPr>
        <p:spPr/>
        <p:txBody>
          <a:bodyPr/>
          <a:lstStyle/>
          <a:p>
            <a:r>
              <a:rPr lang="en-US" dirty="0"/>
              <a:t>Standalone CNN: 1D-CNN </a:t>
            </a:r>
            <a:br>
              <a:rPr lang="en-US" dirty="0"/>
            </a:br>
            <a:br>
              <a:rPr lang="en-US" dirty="0"/>
            </a:br>
            <a:endParaRPr lang="en-US" dirty="0"/>
          </a:p>
        </p:txBody>
      </p:sp>
      <p:sp>
        <p:nvSpPr>
          <p:cNvPr id="3" name="Text Placeholder 2">
            <a:extLst>
              <a:ext uri="{FF2B5EF4-FFF2-40B4-BE49-F238E27FC236}">
                <a16:creationId xmlns:a16="http://schemas.microsoft.com/office/drawing/2014/main" id="{40EB2176-68EA-4000-99C9-4A1E9FDDF50D}"/>
              </a:ext>
            </a:extLst>
          </p:cNvPr>
          <p:cNvSpPr>
            <a:spLocks noGrp="1"/>
          </p:cNvSpPr>
          <p:nvPr>
            <p:ph type="body" idx="1"/>
          </p:nvPr>
        </p:nvSpPr>
        <p:spPr/>
        <p:txBody>
          <a:bodyPr/>
          <a:lstStyle/>
          <a:p>
            <a:pPr>
              <a:lnSpc>
                <a:spcPct val="150000"/>
              </a:lnSpc>
            </a:pPr>
            <a:r>
              <a:rPr lang="en-US" sz="1400" b="1" dirty="0"/>
              <a:t>Paper’s Approach:</a:t>
            </a:r>
          </a:p>
          <a:p>
            <a:pPr marL="952500" lvl="1" indent="-342900">
              <a:lnSpc>
                <a:spcPct val="150000"/>
              </a:lnSpc>
              <a:buFont typeface="+mj-lt"/>
              <a:buAutoNum type="arabicPeriod"/>
            </a:pPr>
            <a:r>
              <a:rPr lang="en-US" sz="1400" dirty="0"/>
              <a:t>1D-CNN as spatial feature extractor</a:t>
            </a:r>
          </a:p>
          <a:p>
            <a:pPr lvl="1">
              <a:lnSpc>
                <a:spcPct val="150000"/>
              </a:lnSpc>
              <a:buFont typeface="+mj-lt"/>
              <a:buAutoNum type="arabicPeriod"/>
            </a:pPr>
            <a:r>
              <a:rPr lang="en-US" sz="1400" dirty="0"/>
              <a:t>Weight sharing for parameter reduction</a:t>
            </a:r>
          </a:p>
          <a:p>
            <a:pPr lvl="1">
              <a:lnSpc>
                <a:spcPct val="150000"/>
              </a:lnSpc>
              <a:buFont typeface="+mj-lt"/>
              <a:buAutoNum type="arabicPeriod"/>
            </a:pPr>
            <a:r>
              <a:rPr lang="en-US" sz="1400" dirty="0"/>
              <a:t>1D max-pooling for feature compression</a:t>
            </a:r>
          </a:p>
          <a:p>
            <a:pPr lvl="1">
              <a:lnSpc>
                <a:spcPct val="150000"/>
              </a:lnSpc>
              <a:buFont typeface="+mj-lt"/>
              <a:buAutoNum type="arabicPeriod"/>
            </a:pPr>
            <a:r>
              <a:rPr lang="en-US" sz="1400" dirty="0"/>
              <a:t>Grid Search for hyperparameter optimization</a:t>
            </a:r>
          </a:p>
          <a:p>
            <a:pPr>
              <a:lnSpc>
                <a:spcPct val="150000"/>
              </a:lnSpc>
            </a:pPr>
            <a:r>
              <a:rPr lang="en-US" sz="1400" b="1" dirty="0"/>
              <a:t>My Implementation:</a:t>
            </a:r>
          </a:p>
          <a:p>
            <a:pPr marL="952500" lvl="1" indent="-342900">
              <a:lnSpc>
                <a:spcPct val="150000"/>
              </a:lnSpc>
              <a:buFont typeface="+mj-lt"/>
              <a:buAutoNum type="arabicPeriod"/>
            </a:pPr>
            <a:r>
              <a:rPr lang="en-US" sz="1400" dirty="0"/>
              <a:t>Three FC layers with Dropout</a:t>
            </a:r>
          </a:p>
          <a:p>
            <a:pPr marL="952500" lvl="1" indent="-342900">
              <a:lnSpc>
                <a:spcPct val="150000"/>
              </a:lnSpc>
              <a:buFont typeface="+mj-lt"/>
              <a:buAutoNum type="arabicPeriod"/>
            </a:pPr>
            <a:r>
              <a:rPr lang="en-US" sz="1400" dirty="0"/>
              <a:t>Flexible sequence lengths (1, 3, 12)</a:t>
            </a:r>
          </a:p>
          <a:p>
            <a:pPr marL="952500" lvl="1" indent="-342900">
              <a:lnSpc>
                <a:spcPct val="150000"/>
              </a:lnSpc>
              <a:buFont typeface="+mj-lt"/>
              <a:buAutoNum type="arabicPeriod"/>
            </a:pPr>
            <a:r>
              <a:rPr lang="en-US" sz="1400" dirty="0"/>
              <a:t>Full Grid Search with Early Stopping</a:t>
            </a:r>
          </a:p>
          <a:p>
            <a:pPr marL="952500" lvl="1" indent="-342900">
              <a:lnSpc>
                <a:spcPct val="150000"/>
              </a:lnSpc>
              <a:buFont typeface="+mj-lt"/>
              <a:buAutoNum type="arabicPeriod"/>
            </a:pPr>
            <a:r>
              <a:rPr lang="en-US" sz="1400" b="1" dirty="0"/>
              <a:t>Pipeline:</a:t>
            </a:r>
            <a:r>
              <a:rPr lang="en-US" sz="1400" dirty="0"/>
              <a:t> </a:t>
            </a:r>
            <a:r>
              <a:rPr lang="en-US" sz="1400" dirty="0" err="1"/>
              <a:t>MinMaxScaler</a:t>
            </a:r>
            <a:r>
              <a:rPr lang="en-US" sz="1400" dirty="0"/>
              <a:t> → sequence prep → </a:t>
            </a:r>
            <a:r>
              <a:rPr lang="en-US" sz="1400" dirty="0" err="1"/>
              <a:t>PyTorch</a:t>
            </a:r>
            <a:r>
              <a:rPr lang="en-US" sz="1400" dirty="0"/>
              <a:t> format</a:t>
            </a:r>
          </a:p>
          <a:p>
            <a:pPr marL="152400" indent="0">
              <a:lnSpc>
                <a:spcPct val="150000"/>
              </a:lnSpc>
              <a:buNone/>
            </a:pPr>
            <a:endParaRPr lang="en-US" sz="1400" dirty="0"/>
          </a:p>
          <a:p>
            <a:pPr>
              <a:lnSpc>
                <a:spcPct val="150000"/>
              </a:lnSpc>
            </a:pPr>
            <a:endParaRPr lang="en-US" sz="1400" dirty="0"/>
          </a:p>
        </p:txBody>
      </p:sp>
    </p:spTree>
    <p:extLst>
      <p:ext uri="{BB962C8B-B14F-4D97-AF65-F5344CB8AC3E}">
        <p14:creationId xmlns:p14="http://schemas.microsoft.com/office/powerpoint/2010/main" val="78152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CCE29-CA29-8685-0CAF-77EFEBD89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4F9FA-B4BB-9079-461B-BDEBB164D266}"/>
              </a:ext>
            </a:extLst>
          </p:cNvPr>
          <p:cNvSpPr>
            <a:spLocks noGrp="1"/>
          </p:cNvSpPr>
          <p:nvPr>
            <p:ph type="title"/>
          </p:nvPr>
        </p:nvSpPr>
        <p:spPr/>
        <p:txBody>
          <a:bodyPr/>
          <a:lstStyle/>
          <a:p>
            <a:r>
              <a:rPr lang="en-US" dirty="0"/>
              <a:t>Standalone CNN: Implementation</a:t>
            </a:r>
            <a:br>
              <a:rPr lang="en-US" dirty="0"/>
            </a:br>
            <a:br>
              <a:rPr lang="en-US" dirty="0"/>
            </a:br>
            <a:endParaRPr lang="en-US" dirty="0"/>
          </a:p>
        </p:txBody>
      </p:sp>
      <p:sp>
        <p:nvSpPr>
          <p:cNvPr id="3" name="Text Placeholder 2">
            <a:extLst>
              <a:ext uri="{FF2B5EF4-FFF2-40B4-BE49-F238E27FC236}">
                <a16:creationId xmlns:a16="http://schemas.microsoft.com/office/drawing/2014/main" id="{94DD1BE7-F9DB-E2BD-483C-72C1CDECEEC3}"/>
              </a:ext>
            </a:extLst>
          </p:cNvPr>
          <p:cNvSpPr>
            <a:spLocks noGrp="1"/>
          </p:cNvSpPr>
          <p:nvPr>
            <p:ph type="body" idx="1"/>
          </p:nvPr>
        </p:nvSpPr>
        <p:spPr/>
        <p:txBody>
          <a:bodyPr/>
          <a:lstStyle/>
          <a:p>
            <a:pPr>
              <a:lnSpc>
                <a:spcPct val="150000"/>
              </a:lnSpc>
            </a:pPr>
            <a:r>
              <a:rPr lang="en-US" sz="1400" b="1" dirty="0"/>
              <a:t>Model Architecture (</a:t>
            </a:r>
            <a:r>
              <a:rPr lang="en-US" sz="1400" dirty="0"/>
              <a:t>Simple1DCNN</a:t>
            </a:r>
            <a:r>
              <a:rPr lang="en-US" sz="1400" b="1" dirty="0"/>
              <a:t> class):</a:t>
            </a:r>
            <a:endParaRPr lang="en-US" sz="1400" dirty="0"/>
          </a:p>
          <a:p>
            <a:pPr lvl="1">
              <a:lnSpc>
                <a:spcPct val="150000"/>
              </a:lnSpc>
            </a:pPr>
            <a:r>
              <a:rPr lang="en-US" sz="1400" dirty="0"/>
              <a:t>Two 1D convolutional layers with Batch Normalization and </a:t>
            </a:r>
            <a:r>
              <a:rPr lang="en-US" sz="1400" dirty="0" err="1"/>
              <a:t>ReLU</a:t>
            </a:r>
            <a:r>
              <a:rPr lang="en-US" sz="1400" dirty="0"/>
              <a:t> activation</a:t>
            </a:r>
          </a:p>
          <a:p>
            <a:pPr lvl="1">
              <a:lnSpc>
                <a:spcPct val="150000"/>
              </a:lnSpc>
            </a:pPr>
            <a:r>
              <a:rPr lang="en-US" sz="1400" dirty="0"/>
              <a:t>Flattening layer followed by three fully connected layers with Dropout (configurable rate)</a:t>
            </a:r>
          </a:p>
          <a:p>
            <a:pPr lvl="1">
              <a:lnSpc>
                <a:spcPct val="150000"/>
              </a:lnSpc>
            </a:pPr>
            <a:r>
              <a:rPr lang="en-US" sz="1400" dirty="0"/>
              <a:t>Final output layer with single neuron for regression</a:t>
            </a:r>
          </a:p>
          <a:p>
            <a:pPr>
              <a:lnSpc>
                <a:spcPct val="150000"/>
              </a:lnSpc>
            </a:pPr>
            <a:r>
              <a:rPr lang="en-US" sz="1400" b="1" dirty="0"/>
              <a:t>Key Hyperparameters (Grid Search):</a:t>
            </a:r>
            <a:endParaRPr lang="en-US" sz="1400" dirty="0"/>
          </a:p>
          <a:p>
            <a:pPr lvl="1">
              <a:lnSpc>
                <a:spcPct val="150000"/>
              </a:lnSpc>
            </a:pPr>
            <a:r>
              <a:rPr lang="en-US" sz="1400" dirty="0" err="1"/>
              <a:t>conv_filters</a:t>
            </a:r>
            <a:r>
              <a:rPr lang="en-US" sz="1400" dirty="0"/>
              <a:t>: Number of filters in conv layers (tested: 1, 32, 64)</a:t>
            </a:r>
          </a:p>
          <a:p>
            <a:pPr lvl="1">
              <a:lnSpc>
                <a:spcPct val="150000"/>
              </a:lnSpc>
            </a:pPr>
            <a:r>
              <a:rPr lang="en-US" sz="1400" dirty="0" err="1"/>
              <a:t>kernel_size</a:t>
            </a:r>
            <a:r>
              <a:rPr lang="en-US" sz="1400" dirty="0"/>
              <a:t>: Convolution window size (tested: 3, 5)</a:t>
            </a:r>
          </a:p>
          <a:p>
            <a:pPr lvl="1">
              <a:lnSpc>
                <a:spcPct val="150000"/>
              </a:lnSpc>
            </a:pPr>
            <a:r>
              <a:rPr lang="en-US" sz="1400" dirty="0"/>
              <a:t>fc1_units/fc2_units: Dense layer sizes (tested: [4,8] and [2,4] combinations)</a:t>
            </a:r>
          </a:p>
          <a:p>
            <a:pPr lvl="1">
              <a:lnSpc>
                <a:spcPct val="150000"/>
              </a:lnSpc>
            </a:pPr>
            <a:r>
              <a:rPr lang="en-US" sz="1400" dirty="0" err="1"/>
              <a:t>dropout_rate</a:t>
            </a:r>
            <a:r>
              <a:rPr lang="en-US" sz="1400" dirty="0"/>
              <a:t>: Regularization (tested: 0.05, 0.1)</a:t>
            </a:r>
          </a:p>
          <a:p>
            <a:pPr lvl="1">
              <a:lnSpc>
                <a:spcPct val="150000"/>
              </a:lnSpc>
            </a:pPr>
            <a:r>
              <a:rPr lang="en-US" sz="1400" dirty="0" err="1"/>
              <a:t>learning_rate</a:t>
            </a:r>
            <a:r>
              <a:rPr lang="en-US" sz="1400" dirty="0"/>
              <a:t>: Optimizer step size (tested: 0.05, 0.1)</a:t>
            </a:r>
          </a:p>
        </p:txBody>
      </p:sp>
    </p:spTree>
    <p:extLst>
      <p:ext uri="{BB962C8B-B14F-4D97-AF65-F5344CB8AC3E}">
        <p14:creationId xmlns:p14="http://schemas.microsoft.com/office/powerpoint/2010/main" val="3399477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F441-4460-D810-4937-0FB5311A828D}"/>
              </a:ext>
            </a:extLst>
          </p:cNvPr>
          <p:cNvSpPr>
            <a:spLocks noGrp="1"/>
          </p:cNvSpPr>
          <p:nvPr>
            <p:ph type="title"/>
          </p:nvPr>
        </p:nvSpPr>
        <p:spPr/>
        <p:txBody>
          <a:bodyPr/>
          <a:lstStyle/>
          <a:p>
            <a:r>
              <a:rPr lang="en-US" dirty="0"/>
              <a:t>Standalone CNN: 1D-CNN (cont.)</a:t>
            </a:r>
            <a:br>
              <a:rPr lang="en-US" dirty="0"/>
            </a:br>
            <a:br>
              <a:rPr lang="en-US" dirty="0"/>
            </a:br>
            <a:endParaRPr lang="en-US" dirty="0"/>
          </a:p>
        </p:txBody>
      </p:sp>
      <p:sp>
        <p:nvSpPr>
          <p:cNvPr id="3" name="Text Placeholder 2">
            <a:extLst>
              <a:ext uri="{FF2B5EF4-FFF2-40B4-BE49-F238E27FC236}">
                <a16:creationId xmlns:a16="http://schemas.microsoft.com/office/drawing/2014/main" id="{26994300-4895-D5F6-D9B1-F625A85C54AB}"/>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07E9BE79-4678-D30B-EB7B-DB3E22967D9D}"/>
              </a:ext>
            </a:extLst>
          </p:cNvPr>
          <p:cNvPicPr>
            <a:picLocks noChangeAspect="1"/>
          </p:cNvPicPr>
          <p:nvPr/>
        </p:nvPicPr>
        <p:blipFill>
          <a:blip r:embed="rId2"/>
          <a:stretch>
            <a:fillRect/>
          </a:stretch>
        </p:blipFill>
        <p:spPr>
          <a:xfrm>
            <a:off x="2263928" y="1094211"/>
            <a:ext cx="4616143" cy="3802380"/>
          </a:xfrm>
          <a:prstGeom prst="rect">
            <a:avLst/>
          </a:prstGeom>
        </p:spPr>
      </p:pic>
    </p:spTree>
    <p:extLst>
      <p:ext uri="{BB962C8B-B14F-4D97-AF65-F5344CB8AC3E}">
        <p14:creationId xmlns:p14="http://schemas.microsoft.com/office/powerpoint/2010/main" val="576197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63B3-8882-7992-288F-0CEA12D25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E29C0-4A3B-6FAB-55F0-2400BDFEB720}"/>
              </a:ext>
            </a:extLst>
          </p:cNvPr>
          <p:cNvSpPr>
            <a:spLocks noGrp="1"/>
          </p:cNvSpPr>
          <p:nvPr>
            <p:ph type="title"/>
          </p:nvPr>
        </p:nvSpPr>
        <p:spPr/>
        <p:txBody>
          <a:bodyPr/>
          <a:lstStyle/>
          <a:p>
            <a:r>
              <a:rPr lang="en-US" dirty="0"/>
              <a:t>Standalone CNN: 1D-CNN (cont.)</a:t>
            </a:r>
            <a:br>
              <a:rPr lang="en-US" dirty="0"/>
            </a:br>
            <a:br>
              <a:rPr lang="en-US" dirty="0"/>
            </a:br>
            <a:endParaRPr lang="en-US" dirty="0"/>
          </a:p>
        </p:txBody>
      </p:sp>
      <p:sp>
        <p:nvSpPr>
          <p:cNvPr id="3" name="Text Placeholder 2">
            <a:extLst>
              <a:ext uri="{FF2B5EF4-FFF2-40B4-BE49-F238E27FC236}">
                <a16:creationId xmlns:a16="http://schemas.microsoft.com/office/drawing/2014/main" id="{66C20BDB-5EDE-317A-A38F-4F0C7C07415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4AE1786-A6CB-09E6-55D1-6D879C40C3FF}"/>
              </a:ext>
            </a:extLst>
          </p:cNvPr>
          <p:cNvPicPr>
            <a:picLocks noChangeAspect="1"/>
          </p:cNvPicPr>
          <p:nvPr/>
        </p:nvPicPr>
        <p:blipFill>
          <a:blip r:embed="rId2"/>
          <a:stretch>
            <a:fillRect/>
          </a:stretch>
        </p:blipFill>
        <p:spPr>
          <a:xfrm>
            <a:off x="1599414" y="1149023"/>
            <a:ext cx="5945172" cy="3400089"/>
          </a:xfrm>
          <a:prstGeom prst="rect">
            <a:avLst/>
          </a:prstGeom>
        </p:spPr>
      </p:pic>
    </p:spTree>
    <p:extLst>
      <p:ext uri="{BB962C8B-B14F-4D97-AF65-F5344CB8AC3E}">
        <p14:creationId xmlns:p14="http://schemas.microsoft.com/office/powerpoint/2010/main" val="3521495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A968-D860-493B-BDE3-34A357431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D3050-F334-1A0E-FA18-C0E617BF3793}"/>
              </a:ext>
            </a:extLst>
          </p:cNvPr>
          <p:cNvSpPr>
            <a:spLocks noGrp="1"/>
          </p:cNvSpPr>
          <p:nvPr>
            <p:ph type="title"/>
          </p:nvPr>
        </p:nvSpPr>
        <p:spPr/>
        <p:txBody>
          <a:bodyPr/>
          <a:lstStyle/>
          <a:p>
            <a:r>
              <a:rPr lang="en-US" dirty="0"/>
              <a:t>Standalone BiLSTM</a:t>
            </a:r>
            <a:br>
              <a:rPr lang="en-US" dirty="0"/>
            </a:br>
            <a:br>
              <a:rPr lang="en-US" dirty="0"/>
            </a:br>
            <a:endParaRPr lang="en-US" dirty="0"/>
          </a:p>
        </p:txBody>
      </p:sp>
      <p:sp>
        <p:nvSpPr>
          <p:cNvPr id="3" name="Text Placeholder 2">
            <a:extLst>
              <a:ext uri="{FF2B5EF4-FFF2-40B4-BE49-F238E27FC236}">
                <a16:creationId xmlns:a16="http://schemas.microsoft.com/office/drawing/2014/main" id="{899B0943-5746-E476-D5A2-68B5A141B729}"/>
              </a:ext>
            </a:extLst>
          </p:cNvPr>
          <p:cNvSpPr>
            <a:spLocks noGrp="1"/>
          </p:cNvSpPr>
          <p:nvPr>
            <p:ph type="body" idx="1"/>
          </p:nvPr>
        </p:nvSpPr>
        <p:spPr/>
        <p:txBody>
          <a:bodyPr/>
          <a:lstStyle/>
          <a:p>
            <a:pPr>
              <a:lnSpc>
                <a:spcPct val="150000"/>
              </a:lnSpc>
            </a:pPr>
            <a:endParaRPr lang="en-US" sz="1400" b="1" dirty="0"/>
          </a:p>
          <a:p>
            <a:pPr>
              <a:lnSpc>
                <a:spcPct val="150000"/>
              </a:lnSpc>
            </a:pPr>
            <a:r>
              <a:rPr lang="en-US" sz="1400" b="1" dirty="0"/>
              <a:t>Paper's Approach:</a:t>
            </a:r>
            <a:endParaRPr lang="en-US" sz="1400" dirty="0"/>
          </a:p>
          <a:p>
            <a:pPr marL="952500" lvl="1" indent="-342900">
              <a:lnSpc>
                <a:spcPct val="150000"/>
              </a:lnSpc>
              <a:buFont typeface="+mj-lt"/>
              <a:buAutoNum type="arabicPeriod"/>
            </a:pPr>
            <a:r>
              <a:rPr lang="en-US" sz="1400" dirty="0"/>
              <a:t>Bidirectional processing: forward + backward</a:t>
            </a:r>
          </a:p>
          <a:p>
            <a:pPr marL="952500" lvl="1" indent="-342900">
              <a:lnSpc>
                <a:spcPct val="150000"/>
              </a:lnSpc>
              <a:buFont typeface="+mj-lt"/>
              <a:buAutoNum type="arabicPeriod"/>
            </a:pPr>
            <a:r>
              <a:rPr lang="en-US" sz="1400" dirty="0"/>
              <a:t>Grid Search for hyperparameter optimization</a:t>
            </a:r>
          </a:p>
          <a:p>
            <a:pPr>
              <a:lnSpc>
                <a:spcPct val="150000"/>
              </a:lnSpc>
            </a:pPr>
            <a:r>
              <a:rPr lang="en-US" sz="1400" b="1" dirty="0"/>
              <a:t>My Implementation:</a:t>
            </a:r>
          </a:p>
          <a:p>
            <a:pPr marL="952500" lvl="1" indent="-342900">
              <a:lnSpc>
                <a:spcPct val="150000"/>
              </a:lnSpc>
              <a:buFont typeface="+mj-lt"/>
              <a:buAutoNum type="arabicPeriod"/>
            </a:pPr>
            <a:r>
              <a:rPr lang="en-US" sz="1400" dirty="0"/>
              <a:t>2-layer BiLSTM → concatenated hidden states</a:t>
            </a:r>
          </a:p>
          <a:p>
            <a:pPr marL="952500" lvl="1" indent="-342900">
              <a:lnSpc>
                <a:spcPct val="150000"/>
              </a:lnSpc>
              <a:buFont typeface="+mj-lt"/>
              <a:buAutoNum type="arabicPeriod"/>
            </a:pPr>
            <a:r>
              <a:rPr lang="en-US" sz="1400" dirty="0"/>
              <a:t>Three FC layers with </a:t>
            </a:r>
            <a:r>
              <a:rPr lang="en-US" sz="1400" dirty="0" err="1"/>
              <a:t>ReLU</a:t>
            </a:r>
            <a:r>
              <a:rPr lang="en-US" sz="1400" dirty="0"/>
              <a:t> &amp; Dropout</a:t>
            </a:r>
          </a:p>
          <a:p>
            <a:pPr marL="952500" lvl="1" indent="-342900">
              <a:lnSpc>
                <a:spcPct val="150000"/>
              </a:lnSpc>
              <a:buFont typeface="+mj-lt"/>
              <a:buAutoNum type="arabicPeriod"/>
            </a:pPr>
            <a:r>
              <a:rPr lang="en-US" sz="1400" dirty="0"/>
              <a:t>Gradient Clipping for stability</a:t>
            </a:r>
          </a:p>
          <a:p>
            <a:pPr>
              <a:lnSpc>
                <a:spcPct val="150000"/>
              </a:lnSpc>
            </a:pPr>
            <a:endParaRPr lang="en-US" sz="1400" dirty="0"/>
          </a:p>
        </p:txBody>
      </p:sp>
    </p:spTree>
    <p:extLst>
      <p:ext uri="{BB962C8B-B14F-4D97-AF65-F5344CB8AC3E}">
        <p14:creationId xmlns:p14="http://schemas.microsoft.com/office/powerpoint/2010/main" val="1694023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CE18-5E82-EEF3-9D0B-2411F994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11860-C3C9-B0B3-BFB1-FCFAC88DFCC7}"/>
              </a:ext>
            </a:extLst>
          </p:cNvPr>
          <p:cNvSpPr>
            <a:spLocks noGrp="1"/>
          </p:cNvSpPr>
          <p:nvPr>
            <p:ph type="title"/>
          </p:nvPr>
        </p:nvSpPr>
        <p:spPr/>
        <p:txBody>
          <a:bodyPr/>
          <a:lstStyle/>
          <a:p>
            <a:r>
              <a:rPr lang="en-US" dirty="0"/>
              <a:t>Standalone BiLSTM: Implementation</a:t>
            </a:r>
            <a:br>
              <a:rPr lang="en-US" dirty="0"/>
            </a:br>
            <a:br>
              <a:rPr lang="en-US" dirty="0"/>
            </a:br>
            <a:endParaRPr lang="en-US" dirty="0"/>
          </a:p>
        </p:txBody>
      </p:sp>
      <p:sp>
        <p:nvSpPr>
          <p:cNvPr id="3" name="Text Placeholder 2">
            <a:extLst>
              <a:ext uri="{FF2B5EF4-FFF2-40B4-BE49-F238E27FC236}">
                <a16:creationId xmlns:a16="http://schemas.microsoft.com/office/drawing/2014/main" id="{B588FC41-0A25-E66A-70FE-77646CC595C1}"/>
              </a:ext>
            </a:extLst>
          </p:cNvPr>
          <p:cNvSpPr>
            <a:spLocks noGrp="1"/>
          </p:cNvSpPr>
          <p:nvPr>
            <p:ph type="body" idx="1"/>
          </p:nvPr>
        </p:nvSpPr>
        <p:spPr/>
        <p:txBody>
          <a:bodyPr/>
          <a:lstStyle/>
          <a:p>
            <a:pPr>
              <a:lnSpc>
                <a:spcPct val="150000"/>
              </a:lnSpc>
            </a:pPr>
            <a:r>
              <a:rPr lang="en-US" sz="1400" b="1" dirty="0"/>
              <a:t>Model Architecture (</a:t>
            </a:r>
            <a:r>
              <a:rPr lang="en-US" sz="1400" dirty="0" err="1"/>
              <a:t>BiLSTMModel</a:t>
            </a:r>
            <a:r>
              <a:rPr lang="en-US" sz="1400" b="1" dirty="0"/>
              <a:t> class):</a:t>
            </a:r>
            <a:endParaRPr lang="en-US" sz="1400" dirty="0"/>
          </a:p>
          <a:p>
            <a:pPr lvl="1">
              <a:lnSpc>
                <a:spcPct val="150000"/>
              </a:lnSpc>
            </a:pPr>
            <a:r>
              <a:rPr lang="en-US" sz="1400" dirty="0"/>
              <a:t>Bidirectional LSTM layer (output size = </a:t>
            </a:r>
            <a:r>
              <a:rPr lang="en-US" sz="1400" dirty="0" err="1"/>
              <a:t>hidden_size</a:t>
            </a:r>
            <a:r>
              <a:rPr lang="en-US" sz="1400" dirty="0"/>
              <a:t> * 2)</a:t>
            </a:r>
          </a:p>
          <a:p>
            <a:pPr lvl="1">
              <a:lnSpc>
                <a:spcPct val="150000"/>
              </a:lnSpc>
            </a:pPr>
            <a:r>
              <a:rPr lang="en-US" sz="1400" dirty="0"/>
              <a:t>Multiple stacked LSTM layers with dropout between layers </a:t>
            </a:r>
          </a:p>
          <a:p>
            <a:pPr lvl="1">
              <a:lnSpc>
                <a:spcPct val="150000"/>
              </a:lnSpc>
            </a:pPr>
            <a:r>
              <a:rPr lang="en-US" sz="1400" dirty="0"/>
              <a:t>Three fc layers with </a:t>
            </a:r>
            <a:r>
              <a:rPr lang="en-US" sz="1400" dirty="0" err="1"/>
              <a:t>ReLU</a:t>
            </a:r>
            <a:r>
              <a:rPr lang="en-US" sz="1400" dirty="0"/>
              <a:t> activation and dropout for regression output</a:t>
            </a:r>
          </a:p>
          <a:p>
            <a:pPr>
              <a:lnSpc>
                <a:spcPct val="150000"/>
              </a:lnSpc>
            </a:pPr>
            <a:r>
              <a:rPr lang="en-US" sz="1400" b="1" dirty="0"/>
              <a:t>Key Hyperparameters (Grid Search):</a:t>
            </a:r>
            <a:endParaRPr lang="en-US" sz="1400" dirty="0"/>
          </a:p>
          <a:p>
            <a:pPr lvl="1">
              <a:lnSpc>
                <a:spcPct val="150000"/>
              </a:lnSpc>
            </a:pPr>
            <a:r>
              <a:rPr lang="en-US" sz="1400" dirty="0" err="1"/>
              <a:t>hidden_size</a:t>
            </a:r>
            <a:r>
              <a:rPr lang="en-US" sz="1400" dirty="0"/>
              <a:t>: LSTM memory cells (tested: 32, 50, 64) - controls model capacity</a:t>
            </a:r>
          </a:p>
          <a:p>
            <a:pPr lvl="1">
              <a:lnSpc>
                <a:spcPct val="150000"/>
              </a:lnSpc>
            </a:pPr>
            <a:r>
              <a:rPr lang="en-US" sz="1400" dirty="0" err="1"/>
              <a:t>num_layers</a:t>
            </a:r>
            <a:r>
              <a:rPr lang="en-US" sz="1400" dirty="0"/>
              <a:t>: Stacked LSTM depth (tested: 2, 3) - deeper temporal abstraction</a:t>
            </a:r>
          </a:p>
          <a:p>
            <a:pPr lvl="1">
              <a:lnSpc>
                <a:spcPct val="150000"/>
              </a:lnSpc>
            </a:pPr>
            <a:r>
              <a:rPr lang="en-US" sz="1400" dirty="0"/>
              <a:t>fc1_units/fc2_units: Dense layer sizes (tested: [8,16] and [4,8] combinations)</a:t>
            </a:r>
          </a:p>
          <a:p>
            <a:pPr lvl="1">
              <a:lnSpc>
                <a:spcPct val="150000"/>
              </a:lnSpc>
            </a:pPr>
            <a:r>
              <a:rPr lang="en-US" sz="1400" dirty="0" err="1"/>
              <a:t>dropout_rate</a:t>
            </a:r>
            <a:r>
              <a:rPr lang="en-US" sz="1400" dirty="0"/>
              <a:t>: Regularization (tested: 0.1, 0.2, 0.3) - prevents overfitting</a:t>
            </a:r>
          </a:p>
          <a:p>
            <a:pPr lvl="1">
              <a:lnSpc>
                <a:spcPct val="150000"/>
              </a:lnSpc>
            </a:pPr>
            <a:r>
              <a:rPr lang="en-US" sz="1400" dirty="0" err="1"/>
              <a:t>learning_rate</a:t>
            </a:r>
            <a:r>
              <a:rPr lang="en-US" sz="1400" dirty="0"/>
              <a:t>: Optimizer step size with </a:t>
            </a:r>
            <a:r>
              <a:rPr lang="en-US" sz="1400" dirty="0" err="1"/>
              <a:t>ReduceLROnPlateau</a:t>
            </a:r>
            <a:r>
              <a:rPr lang="en-US" sz="1400" dirty="0"/>
              <a:t> scheduler (factor=0.5, patience=5)</a:t>
            </a:r>
          </a:p>
          <a:p>
            <a:pPr>
              <a:lnSpc>
                <a:spcPct val="150000"/>
              </a:lnSpc>
            </a:pPr>
            <a:endParaRPr lang="en-US" sz="1600" dirty="0"/>
          </a:p>
        </p:txBody>
      </p:sp>
    </p:spTree>
    <p:extLst>
      <p:ext uri="{BB962C8B-B14F-4D97-AF65-F5344CB8AC3E}">
        <p14:creationId xmlns:p14="http://schemas.microsoft.com/office/powerpoint/2010/main" val="222111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47123-67DE-2DB6-F99D-8821B5DE5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562B4-CE68-662B-8C1B-AF5937AFB578}"/>
              </a:ext>
            </a:extLst>
          </p:cNvPr>
          <p:cNvSpPr>
            <a:spLocks noGrp="1"/>
          </p:cNvSpPr>
          <p:nvPr>
            <p:ph type="title"/>
          </p:nvPr>
        </p:nvSpPr>
        <p:spPr/>
        <p:txBody>
          <a:bodyPr/>
          <a:lstStyle/>
          <a:p>
            <a:r>
              <a:rPr lang="en-US" dirty="0"/>
              <a:t>Standalone BiLSTM (cont.)</a:t>
            </a:r>
            <a:br>
              <a:rPr lang="en-US" dirty="0"/>
            </a:br>
            <a:br>
              <a:rPr lang="en-US" dirty="0"/>
            </a:br>
            <a:endParaRPr lang="en-US" dirty="0"/>
          </a:p>
        </p:txBody>
      </p:sp>
      <p:sp>
        <p:nvSpPr>
          <p:cNvPr id="3" name="Text Placeholder 2">
            <a:extLst>
              <a:ext uri="{FF2B5EF4-FFF2-40B4-BE49-F238E27FC236}">
                <a16:creationId xmlns:a16="http://schemas.microsoft.com/office/drawing/2014/main" id="{AFD7FA68-9F64-A3B1-78B3-D4A0D5DDE8F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83630D3-C10C-3967-0A4B-51F6EE188F4F}"/>
              </a:ext>
            </a:extLst>
          </p:cNvPr>
          <p:cNvPicPr>
            <a:picLocks noChangeAspect="1"/>
          </p:cNvPicPr>
          <p:nvPr/>
        </p:nvPicPr>
        <p:blipFill>
          <a:blip r:embed="rId2"/>
          <a:stretch>
            <a:fillRect/>
          </a:stretch>
        </p:blipFill>
        <p:spPr>
          <a:xfrm>
            <a:off x="2154337" y="1094211"/>
            <a:ext cx="4835326" cy="3755368"/>
          </a:xfrm>
          <a:prstGeom prst="rect">
            <a:avLst/>
          </a:prstGeom>
        </p:spPr>
      </p:pic>
    </p:spTree>
    <p:extLst>
      <p:ext uri="{BB962C8B-B14F-4D97-AF65-F5344CB8AC3E}">
        <p14:creationId xmlns:p14="http://schemas.microsoft.com/office/powerpoint/2010/main" val="2026955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17045-522A-F86A-F9EF-ADC88B4E8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82F08-C551-233B-0F52-92D56F263FD2}"/>
              </a:ext>
            </a:extLst>
          </p:cNvPr>
          <p:cNvSpPr>
            <a:spLocks noGrp="1"/>
          </p:cNvSpPr>
          <p:nvPr>
            <p:ph type="title"/>
          </p:nvPr>
        </p:nvSpPr>
        <p:spPr/>
        <p:txBody>
          <a:bodyPr/>
          <a:lstStyle/>
          <a:p>
            <a:r>
              <a:rPr lang="en-US" dirty="0"/>
              <a:t>Standalone BiLSTM (cont.)</a:t>
            </a:r>
            <a:br>
              <a:rPr lang="en-US" dirty="0"/>
            </a:br>
            <a:br>
              <a:rPr lang="en-US" dirty="0"/>
            </a:br>
            <a:endParaRPr lang="en-US" dirty="0"/>
          </a:p>
        </p:txBody>
      </p:sp>
      <p:sp>
        <p:nvSpPr>
          <p:cNvPr id="3" name="Text Placeholder 2">
            <a:extLst>
              <a:ext uri="{FF2B5EF4-FFF2-40B4-BE49-F238E27FC236}">
                <a16:creationId xmlns:a16="http://schemas.microsoft.com/office/drawing/2014/main" id="{DFE71C20-CCBF-722F-884F-37CADD67D1C8}"/>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8EAC0B79-D8BA-A462-5848-D72A0052AAF2}"/>
              </a:ext>
            </a:extLst>
          </p:cNvPr>
          <p:cNvPicPr>
            <a:picLocks noChangeAspect="1"/>
          </p:cNvPicPr>
          <p:nvPr/>
        </p:nvPicPr>
        <p:blipFill>
          <a:blip r:embed="rId2"/>
          <a:stretch>
            <a:fillRect/>
          </a:stretch>
        </p:blipFill>
        <p:spPr>
          <a:xfrm>
            <a:off x="1673854" y="1191596"/>
            <a:ext cx="5796292" cy="3314943"/>
          </a:xfrm>
          <a:prstGeom prst="rect">
            <a:avLst/>
          </a:prstGeom>
        </p:spPr>
      </p:pic>
    </p:spTree>
    <p:extLst>
      <p:ext uri="{BB962C8B-B14F-4D97-AF65-F5344CB8AC3E}">
        <p14:creationId xmlns:p14="http://schemas.microsoft.com/office/powerpoint/2010/main" val="4255722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81B95-1016-77C9-F38E-6E7BE51D3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7D7D7-DDBD-F318-2A8C-689800615153}"/>
              </a:ext>
            </a:extLst>
          </p:cNvPr>
          <p:cNvSpPr>
            <a:spLocks noGrp="1"/>
          </p:cNvSpPr>
          <p:nvPr>
            <p:ph type="title"/>
          </p:nvPr>
        </p:nvSpPr>
        <p:spPr/>
        <p:txBody>
          <a:bodyPr/>
          <a:lstStyle/>
          <a:p>
            <a:r>
              <a:rPr lang="en-US" dirty="0"/>
              <a:t>Proposed CNN-BiLSTM</a:t>
            </a:r>
          </a:p>
        </p:txBody>
      </p:sp>
      <p:sp>
        <p:nvSpPr>
          <p:cNvPr id="3" name="Text Placeholder 2">
            <a:extLst>
              <a:ext uri="{FF2B5EF4-FFF2-40B4-BE49-F238E27FC236}">
                <a16:creationId xmlns:a16="http://schemas.microsoft.com/office/drawing/2014/main" id="{88B5134F-504C-55C0-ABF5-35FF64B61CD4}"/>
              </a:ext>
            </a:extLst>
          </p:cNvPr>
          <p:cNvSpPr>
            <a:spLocks noGrp="1"/>
          </p:cNvSpPr>
          <p:nvPr>
            <p:ph type="body" idx="1"/>
          </p:nvPr>
        </p:nvSpPr>
        <p:spPr/>
        <p:txBody>
          <a:bodyPr/>
          <a:lstStyle/>
          <a:p>
            <a:pPr>
              <a:lnSpc>
                <a:spcPct val="150000"/>
              </a:lnSpc>
            </a:pPr>
            <a:endParaRPr lang="en-US" sz="1400" b="1" dirty="0"/>
          </a:p>
          <a:p>
            <a:pPr>
              <a:lnSpc>
                <a:spcPct val="150000"/>
              </a:lnSpc>
            </a:pPr>
            <a:r>
              <a:rPr lang="en-US" sz="1400" b="1" dirty="0"/>
              <a:t>Paper's Approach:</a:t>
            </a:r>
            <a:endParaRPr lang="en-US" sz="1400" dirty="0"/>
          </a:p>
          <a:p>
            <a:pPr marL="952500" lvl="1" indent="-342900">
              <a:lnSpc>
                <a:spcPct val="150000"/>
              </a:lnSpc>
              <a:buFont typeface="+mj-lt"/>
              <a:buAutoNum type="arabicPeriod"/>
            </a:pPr>
            <a:r>
              <a:rPr lang="en-US" sz="1400" dirty="0"/>
              <a:t>1D-CNN: Spatial feature extraction</a:t>
            </a:r>
          </a:p>
          <a:p>
            <a:pPr marL="952500" lvl="1" indent="-342900">
              <a:lnSpc>
                <a:spcPct val="150000"/>
              </a:lnSpc>
              <a:buFont typeface="+mj-lt"/>
              <a:buAutoNum type="arabicPeriod"/>
            </a:pPr>
            <a:r>
              <a:rPr lang="en-US" sz="1400" dirty="0"/>
              <a:t>BiLSTM: Temporal dependency learning</a:t>
            </a:r>
          </a:p>
          <a:p>
            <a:pPr marL="952500" lvl="1" indent="-342900">
              <a:lnSpc>
                <a:spcPct val="150000"/>
              </a:lnSpc>
              <a:buFont typeface="+mj-lt"/>
              <a:buAutoNum type="arabicPeriod"/>
            </a:pPr>
            <a:r>
              <a:rPr lang="en-US" sz="1400" dirty="0"/>
              <a:t>Grid Search for optimal hyperparameters</a:t>
            </a:r>
          </a:p>
          <a:p>
            <a:pPr>
              <a:lnSpc>
                <a:spcPct val="150000"/>
              </a:lnSpc>
            </a:pPr>
            <a:r>
              <a:rPr lang="en-US" sz="1400" b="1" dirty="0"/>
              <a:t>My Implementation</a:t>
            </a:r>
            <a:endParaRPr lang="en-US" sz="1400" dirty="0"/>
          </a:p>
          <a:p>
            <a:pPr marL="952500" lvl="1" indent="-342900">
              <a:lnSpc>
                <a:spcPct val="150000"/>
              </a:lnSpc>
              <a:buFont typeface="+mj-lt"/>
              <a:buAutoNum type="arabicPeriod"/>
            </a:pPr>
            <a:r>
              <a:rPr lang="en-US" sz="1400" b="1" dirty="0"/>
              <a:t>Deep CNN Backbone:</a:t>
            </a:r>
            <a:r>
              <a:rPr lang="en-US" sz="1400" dirty="0"/>
              <a:t> 3-layer Sequential CNN</a:t>
            </a:r>
          </a:p>
          <a:p>
            <a:pPr lvl="2">
              <a:lnSpc>
                <a:spcPct val="150000"/>
              </a:lnSpc>
            </a:pPr>
            <a:r>
              <a:rPr lang="en-US" sz="1400" dirty="0"/>
              <a:t>Increasing filters (Filters → 2x → 4x)</a:t>
            </a:r>
          </a:p>
          <a:p>
            <a:pPr lvl="2">
              <a:lnSpc>
                <a:spcPct val="150000"/>
              </a:lnSpc>
            </a:pPr>
            <a:r>
              <a:rPr lang="en-US" sz="1400" dirty="0" err="1"/>
              <a:t>BatchNorm</a:t>
            </a:r>
            <a:r>
              <a:rPr lang="en-US" sz="1400" dirty="0"/>
              <a:t> + Dropout per layer</a:t>
            </a:r>
          </a:p>
        </p:txBody>
      </p:sp>
    </p:spTree>
    <p:extLst>
      <p:ext uri="{BB962C8B-B14F-4D97-AF65-F5344CB8AC3E}">
        <p14:creationId xmlns:p14="http://schemas.microsoft.com/office/powerpoint/2010/main" val="767711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6F47-1592-5669-4BBA-B2FC3D4F5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194AC-1546-6848-F5B7-FA50E871839A}"/>
              </a:ext>
            </a:extLst>
          </p:cNvPr>
          <p:cNvSpPr>
            <a:spLocks noGrp="1"/>
          </p:cNvSpPr>
          <p:nvPr>
            <p:ph type="title"/>
          </p:nvPr>
        </p:nvSpPr>
        <p:spPr/>
        <p:txBody>
          <a:bodyPr/>
          <a:lstStyle/>
          <a:p>
            <a:r>
              <a:rPr lang="en-US" dirty="0"/>
              <a:t>Proposed CNN-BiLSTM: Implementation</a:t>
            </a:r>
          </a:p>
        </p:txBody>
      </p:sp>
      <p:sp>
        <p:nvSpPr>
          <p:cNvPr id="3" name="Text Placeholder 2">
            <a:extLst>
              <a:ext uri="{FF2B5EF4-FFF2-40B4-BE49-F238E27FC236}">
                <a16:creationId xmlns:a16="http://schemas.microsoft.com/office/drawing/2014/main" id="{E377E77E-36DC-4ADD-E86F-A38E64C88E14}"/>
              </a:ext>
            </a:extLst>
          </p:cNvPr>
          <p:cNvSpPr>
            <a:spLocks noGrp="1"/>
          </p:cNvSpPr>
          <p:nvPr>
            <p:ph type="body" idx="1"/>
          </p:nvPr>
        </p:nvSpPr>
        <p:spPr/>
        <p:txBody>
          <a:bodyPr/>
          <a:lstStyle/>
          <a:p>
            <a:pPr>
              <a:lnSpc>
                <a:spcPct val="150000"/>
              </a:lnSpc>
            </a:pPr>
            <a:r>
              <a:rPr lang="en-US" b="1" dirty="0"/>
              <a:t>Model Architecture (</a:t>
            </a:r>
            <a:r>
              <a:rPr lang="en-US" dirty="0" err="1"/>
              <a:t>CNNBiLSTM</a:t>
            </a:r>
            <a:r>
              <a:rPr lang="en-US" b="1" dirty="0"/>
              <a:t> class):</a:t>
            </a:r>
            <a:endParaRPr lang="en-US" dirty="0"/>
          </a:p>
          <a:p>
            <a:pPr lvl="1">
              <a:lnSpc>
                <a:spcPct val="150000"/>
              </a:lnSpc>
            </a:pPr>
            <a:r>
              <a:rPr lang="en-US" b="1" dirty="0"/>
              <a:t>3-layer CNN</a:t>
            </a:r>
            <a:r>
              <a:rPr lang="en-US" dirty="0"/>
              <a:t> with </a:t>
            </a:r>
            <a:r>
              <a:rPr lang="en-US" dirty="0" err="1"/>
              <a:t>BatchNorm</a:t>
            </a:r>
            <a:r>
              <a:rPr lang="en-US" dirty="0"/>
              <a:t>, </a:t>
            </a:r>
            <a:r>
              <a:rPr lang="en-US" dirty="0" err="1"/>
              <a:t>ReLU</a:t>
            </a:r>
            <a:r>
              <a:rPr lang="en-US" dirty="0"/>
              <a:t>, and Dropout for spatial feature extraction (</a:t>
            </a:r>
            <a:r>
              <a:rPr lang="en-US" dirty="0" err="1"/>
              <a:t>conv_filters</a:t>
            </a:r>
            <a:r>
              <a:rPr lang="en-US" dirty="0"/>
              <a:t> doubling each layer: 32→64→128)</a:t>
            </a:r>
          </a:p>
          <a:p>
            <a:pPr lvl="1">
              <a:lnSpc>
                <a:spcPct val="150000"/>
              </a:lnSpc>
            </a:pPr>
            <a:r>
              <a:rPr lang="en-US" b="1" dirty="0"/>
              <a:t>Optional attention layer</a:t>
            </a:r>
            <a:r>
              <a:rPr lang="en-US" dirty="0"/>
              <a:t> that computes weighted sum of LSTM outputs (vs. using last time step)</a:t>
            </a:r>
          </a:p>
          <a:p>
            <a:pPr>
              <a:lnSpc>
                <a:spcPct val="150000"/>
              </a:lnSpc>
            </a:pPr>
            <a:r>
              <a:rPr lang="en-US" b="1" dirty="0"/>
              <a:t>Key Hyperparameters (Grid Search):</a:t>
            </a:r>
            <a:endParaRPr lang="en-US" dirty="0"/>
          </a:p>
          <a:p>
            <a:pPr lvl="1">
              <a:lnSpc>
                <a:spcPct val="150000"/>
              </a:lnSpc>
            </a:pPr>
            <a:r>
              <a:rPr lang="en-US" b="1" dirty="0"/>
              <a:t>CNN Section:</a:t>
            </a:r>
            <a:r>
              <a:rPr lang="en-US" dirty="0"/>
              <a:t> </a:t>
            </a:r>
            <a:r>
              <a:rPr lang="en-US" dirty="0" err="1"/>
              <a:t>conv_filters</a:t>
            </a:r>
            <a:r>
              <a:rPr lang="en-US" dirty="0"/>
              <a:t> (tested: 2, 4, 8, 16, 32) and </a:t>
            </a:r>
            <a:r>
              <a:rPr lang="en-US" dirty="0" err="1"/>
              <a:t>kernel_size</a:t>
            </a:r>
            <a:r>
              <a:rPr lang="en-US" dirty="0"/>
              <a:t>=3 for local pattern extraction</a:t>
            </a:r>
          </a:p>
          <a:p>
            <a:pPr lvl="1">
              <a:lnSpc>
                <a:spcPct val="150000"/>
              </a:lnSpc>
            </a:pPr>
            <a:r>
              <a:rPr lang="en-US" b="1" dirty="0"/>
              <a:t>LSTM Section:</a:t>
            </a:r>
            <a:r>
              <a:rPr lang="en-US" dirty="0"/>
              <a:t> </a:t>
            </a:r>
            <a:r>
              <a:rPr lang="en-US" dirty="0" err="1"/>
              <a:t>lstm_hidden_size</a:t>
            </a:r>
            <a:r>
              <a:rPr lang="en-US" dirty="0"/>
              <a:t> (tested: 50, 64, 100) and </a:t>
            </a:r>
            <a:r>
              <a:rPr lang="en-US" dirty="0" err="1"/>
              <a:t>lstm_num_layers</a:t>
            </a:r>
            <a:r>
              <a:rPr lang="en-US" dirty="0"/>
              <a:t> (tested: 2, 3, 4)</a:t>
            </a:r>
          </a:p>
          <a:p>
            <a:pPr lvl="1">
              <a:lnSpc>
                <a:spcPct val="150000"/>
              </a:lnSpc>
            </a:pPr>
            <a:r>
              <a:rPr lang="en-US" b="1" dirty="0"/>
              <a:t>Regularization:</a:t>
            </a:r>
            <a:r>
              <a:rPr lang="en-US" dirty="0"/>
              <a:t> </a:t>
            </a:r>
            <a:r>
              <a:rPr lang="en-US" dirty="0" err="1"/>
              <a:t>dropout_rate</a:t>
            </a:r>
            <a:r>
              <a:rPr lang="en-US" dirty="0"/>
              <a:t>=0.1, </a:t>
            </a:r>
            <a:r>
              <a:rPr lang="en-US" dirty="0" err="1"/>
              <a:t>weight_decay</a:t>
            </a:r>
            <a:r>
              <a:rPr lang="en-US" dirty="0"/>
              <a:t>=1e-5 (L2 regularization), gradient clipping (</a:t>
            </a:r>
            <a:r>
              <a:rPr lang="en-US" dirty="0" err="1"/>
              <a:t>max_norm</a:t>
            </a:r>
            <a:r>
              <a:rPr lang="en-US" dirty="0"/>
              <a:t>=1.0)</a:t>
            </a:r>
          </a:p>
          <a:p>
            <a:pPr lvl="1">
              <a:lnSpc>
                <a:spcPct val="150000"/>
              </a:lnSpc>
            </a:pPr>
            <a:r>
              <a:rPr lang="en-US" b="1" dirty="0"/>
              <a:t>Training:</a:t>
            </a:r>
            <a:r>
              <a:rPr lang="en-US" dirty="0"/>
              <a:t> </a:t>
            </a:r>
            <a:r>
              <a:rPr lang="en-US" dirty="0" err="1"/>
              <a:t>learning_rate</a:t>
            </a:r>
            <a:r>
              <a:rPr lang="en-US" dirty="0"/>
              <a:t>=0.01 with </a:t>
            </a:r>
            <a:r>
              <a:rPr lang="en-US" dirty="0" err="1"/>
              <a:t>ReduceLROnPlateau</a:t>
            </a:r>
            <a:r>
              <a:rPr lang="en-US" dirty="0"/>
              <a:t> scheduler, </a:t>
            </a:r>
            <a:r>
              <a:rPr lang="en-US" dirty="0" err="1"/>
              <a:t>batch_size</a:t>
            </a:r>
            <a:r>
              <a:rPr lang="en-US" dirty="0"/>
              <a:t>=128</a:t>
            </a:r>
          </a:p>
        </p:txBody>
      </p:sp>
    </p:spTree>
    <p:extLst>
      <p:ext uri="{BB962C8B-B14F-4D97-AF65-F5344CB8AC3E}">
        <p14:creationId xmlns:p14="http://schemas.microsoft.com/office/powerpoint/2010/main" val="3236516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DD0D-E9DE-0D34-399A-228DA29A1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332D0-B187-827C-17C8-5DB931EFD5AE}"/>
              </a:ext>
            </a:extLst>
          </p:cNvPr>
          <p:cNvSpPr>
            <a:spLocks noGrp="1"/>
          </p:cNvSpPr>
          <p:nvPr>
            <p:ph type="title"/>
          </p:nvPr>
        </p:nvSpPr>
        <p:spPr/>
        <p:txBody>
          <a:bodyPr/>
          <a:lstStyle/>
          <a:p>
            <a:r>
              <a:rPr lang="en-US" dirty="0"/>
              <a:t>Proposed CNN-BiLSTM (cont.)</a:t>
            </a:r>
          </a:p>
        </p:txBody>
      </p:sp>
      <p:sp>
        <p:nvSpPr>
          <p:cNvPr id="3" name="Text Placeholder 2">
            <a:extLst>
              <a:ext uri="{FF2B5EF4-FFF2-40B4-BE49-F238E27FC236}">
                <a16:creationId xmlns:a16="http://schemas.microsoft.com/office/drawing/2014/main" id="{11576630-759A-C0D3-1691-769ADC349088}"/>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65C4D2D0-AFAC-CF1B-0F52-EB445A87E141}"/>
              </a:ext>
            </a:extLst>
          </p:cNvPr>
          <p:cNvPicPr>
            <a:picLocks noChangeAspect="1"/>
          </p:cNvPicPr>
          <p:nvPr/>
        </p:nvPicPr>
        <p:blipFill>
          <a:blip r:embed="rId2"/>
          <a:stretch>
            <a:fillRect/>
          </a:stretch>
        </p:blipFill>
        <p:spPr>
          <a:xfrm>
            <a:off x="2111524" y="1094211"/>
            <a:ext cx="4920951" cy="3848100"/>
          </a:xfrm>
          <a:prstGeom prst="rect">
            <a:avLst/>
          </a:prstGeom>
        </p:spPr>
      </p:pic>
    </p:spTree>
    <p:extLst>
      <p:ext uri="{BB962C8B-B14F-4D97-AF65-F5344CB8AC3E}">
        <p14:creationId xmlns:p14="http://schemas.microsoft.com/office/powerpoint/2010/main" val="1426141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D41DC-6FA0-7C24-D277-87AC2C4F5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6EBDB-83CE-E7B2-798D-CF27DF7C70E1}"/>
              </a:ext>
            </a:extLst>
          </p:cNvPr>
          <p:cNvSpPr>
            <a:spLocks noGrp="1"/>
          </p:cNvSpPr>
          <p:nvPr>
            <p:ph type="title"/>
          </p:nvPr>
        </p:nvSpPr>
        <p:spPr/>
        <p:txBody>
          <a:bodyPr/>
          <a:lstStyle/>
          <a:p>
            <a:r>
              <a:rPr lang="en-US" dirty="0"/>
              <a:t>CNN-BiLSTM (cont.)</a:t>
            </a:r>
            <a:br>
              <a:rPr lang="en-US" dirty="0"/>
            </a:br>
            <a:br>
              <a:rPr lang="en-US" dirty="0"/>
            </a:br>
            <a:endParaRPr lang="en-US" dirty="0"/>
          </a:p>
        </p:txBody>
      </p:sp>
      <p:sp>
        <p:nvSpPr>
          <p:cNvPr id="3" name="Text Placeholder 2">
            <a:extLst>
              <a:ext uri="{FF2B5EF4-FFF2-40B4-BE49-F238E27FC236}">
                <a16:creationId xmlns:a16="http://schemas.microsoft.com/office/drawing/2014/main" id="{4BDFDF41-0721-5309-3C35-DD8944B565E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305DD3C4-B203-3266-DE2C-6DDD53884490}"/>
              </a:ext>
            </a:extLst>
          </p:cNvPr>
          <p:cNvPicPr>
            <a:picLocks noChangeAspect="1"/>
          </p:cNvPicPr>
          <p:nvPr/>
        </p:nvPicPr>
        <p:blipFill>
          <a:blip r:embed="rId2"/>
          <a:stretch>
            <a:fillRect/>
          </a:stretch>
        </p:blipFill>
        <p:spPr>
          <a:xfrm>
            <a:off x="1673854" y="1191596"/>
            <a:ext cx="5796292" cy="3314943"/>
          </a:xfrm>
          <a:prstGeom prst="rect">
            <a:avLst/>
          </a:prstGeom>
        </p:spPr>
      </p:pic>
    </p:spTree>
    <p:extLst>
      <p:ext uri="{BB962C8B-B14F-4D97-AF65-F5344CB8AC3E}">
        <p14:creationId xmlns:p14="http://schemas.microsoft.com/office/powerpoint/2010/main" val="4123960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57399-784A-753B-1BC5-23CCE0705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3C687-D1B0-C344-1655-5366F7010DCD}"/>
              </a:ext>
            </a:extLst>
          </p:cNvPr>
          <p:cNvSpPr>
            <a:spLocks noGrp="1"/>
          </p:cNvSpPr>
          <p:nvPr>
            <p:ph type="title"/>
          </p:nvPr>
        </p:nvSpPr>
        <p:spPr/>
        <p:txBody>
          <a:bodyPr/>
          <a:lstStyle/>
          <a:p>
            <a:r>
              <a:rPr lang="en-US" dirty="0"/>
              <a:t>CNN-BiLSTM vs Standalone Models</a:t>
            </a:r>
            <a:br>
              <a:rPr lang="en-US" dirty="0"/>
            </a:br>
            <a:br>
              <a:rPr lang="en-US" dirty="0"/>
            </a:br>
            <a:endParaRPr lang="en-US" dirty="0"/>
          </a:p>
        </p:txBody>
      </p:sp>
      <p:sp>
        <p:nvSpPr>
          <p:cNvPr id="3" name="Text Placeholder 2">
            <a:extLst>
              <a:ext uri="{FF2B5EF4-FFF2-40B4-BE49-F238E27FC236}">
                <a16:creationId xmlns:a16="http://schemas.microsoft.com/office/drawing/2014/main" id="{BC72DCD5-A847-F56E-2C46-B477E2DB194A}"/>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C3310659-550A-E19F-B436-60E035F9ED51}"/>
              </a:ext>
            </a:extLst>
          </p:cNvPr>
          <p:cNvPicPr>
            <a:picLocks noChangeAspect="1"/>
          </p:cNvPicPr>
          <p:nvPr/>
        </p:nvPicPr>
        <p:blipFill>
          <a:blip r:embed="rId2"/>
          <a:stretch>
            <a:fillRect/>
          </a:stretch>
        </p:blipFill>
        <p:spPr>
          <a:xfrm>
            <a:off x="1503584" y="1188774"/>
            <a:ext cx="6136832" cy="3509701"/>
          </a:xfrm>
          <a:prstGeom prst="rect">
            <a:avLst/>
          </a:prstGeom>
        </p:spPr>
      </p:pic>
    </p:spTree>
    <p:extLst>
      <p:ext uri="{BB962C8B-B14F-4D97-AF65-F5344CB8AC3E}">
        <p14:creationId xmlns:p14="http://schemas.microsoft.com/office/powerpoint/2010/main" val="1337507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8FF75-D1AA-3C42-728E-DE29D33D3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D95C6-AA2F-2004-44FE-F228D2D88DEE}"/>
              </a:ext>
            </a:extLst>
          </p:cNvPr>
          <p:cNvSpPr>
            <a:spLocks noGrp="1"/>
          </p:cNvSpPr>
          <p:nvPr>
            <p:ph type="title"/>
          </p:nvPr>
        </p:nvSpPr>
        <p:spPr/>
        <p:txBody>
          <a:bodyPr/>
          <a:lstStyle/>
          <a:p>
            <a:r>
              <a:rPr lang="en-US" dirty="0"/>
              <a:t>Gradient Boosting Models (LGBM)</a:t>
            </a:r>
          </a:p>
        </p:txBody>
      </p:sp>
      <p:sp>
        <p:nvSpPr>
          <p:cNvPr id="3" name="Text Placeholder 2">
            <a:extLst>
              <a:ext uri="{FF2B5EF4-FFF2-40B4-BE49-F238E27FC236}">
                <a16:creationId xmlns:a16="http://schemas.microsoft.com/office/drawing/2014/main" id="{356606E2-1F31-7D47-DB4A-7339832FF8BB}"/>
              </a:ext>
            </a:extLst>
          </p:cNvPr>
          <p:cNvSpPr>
            <a:spLocks noGrp="1"/>
          </p:cNvSpPr>
          <p:nvPr>
            <p:ph type="body" idx="1"/>
          </p:nvPr>
        </p:nvSpPr>
        <p:spPr/>
        <p:txBody>
          <a:bodyPr/>
          <a:lstStyle/>
          <a:p>
            <a:pPr>
              <a:lnSpc>
                <a:spcPct val="150000"/>
              </a:lnSpc>
            </a:pPr>
            <a:endParaRPr lang="en-US" sz="1400" b="1" dirty="0"/>
          </a:p>
          <a:p>
            <a:pPr>
              <a:lnSpc>
                <a:spcPct val="150000"/>
              </a:lnSpc>
            </a:pPr>
            <a:r>
              <a:rPr lang="en-US" sz="1400" b="1" dirty="0" err="1"/>
              <a:t>LightGBM</a:t>
            </a:r>
            <a:r>
              <a:rPr lang="en-US" sz="1400" b="1" dirty="0"/>
              <a:t>:</a:t>
            </a:r>
          </a:p>
          <a:p>
            <a:pPr lvl="1">
              <a:lnSpc>
                <a:spcPct val="150000"/>
              </a:lnSpc>
            </a:pPr>
            <a:r>
              <a:rPr lang="en-US" sz="1400" b="1" dirty="0"/>
              <a:t>Paper's Use:</a:t>
            </a:r>
            <a:endParaRPr lang="en-US" sz="1400" dirty="0"/>
          </a:p>
          <a:p>
            <a:pPr marL="1409700" lvl="2" indent="-342900">
              <a:lnSpc>
                <a:spcPct val="150000"/>
              </a:lnSpc>
              <a:buFont typeface="+mj-lt"/>
              <a:buAutoNum type="arabicPeriod"/>
            </a:pPr>
            <a:r>
              <a:rPr lang="en-US" sz="1400" dirty="0"/>
              <a:t>Critical benchmark vs. CNN-BiLSTM</a:t>
            </a:r>
          </a:p>
          <a:p>
            <a:pPr marL="1409700" lvl="2" indent="-342900">
              <a:lnSpc>
                <a:spcPct val="150000"/>
              </a:lnSpc>
              <a:buFont typeface="+mj-lt"/>
              <a:buAutoNum type="arabicPeriod"/>
            </a:pPr>
            <a:r>
              <a:rPr lang="en-US" sz="1400" dirty="0"/>
              <a:t>Leaf-wise tree growth → lower loss</a:t>
            </a:r>
          </a:p>
          <a:p>
            <a:pPr marL="1409700" lvl="2" indent="-342900">
              <a:lnSpc>
                <a:spcPct val="150000"/>
              </a:lnSpc>
              <a:buFont typeface="+mj-lt"/>
              <a:buAutoNum type="arabicPeriod"/>
            </a:pPr>
            <a:r>
              <a:rPr lang="en-US" sz="1400" dirty="0"/>
              <a:t>Fast, efficient training baseline</a:t>
            </a:r>
          </a:p>
          <a:p>
            <a:pPr lvl="1">
              <a:lnSpc>
                <a:spcPct val="150000"/>
              </a:lnSpc>
            </a:pPr>
            <a:r>
              <a:rPr lang="en-US" sz="1400" b="1" dirty="0"/>
              <a:t>My Implementation:</a:t>
            </a:r>
            <a:endParaRPr lang="en-US" sz="1400" dirty="0"/>
          </a:p>
          <a:p>
            <a:pPr marL="1409700" lvl="2" indent="-342900">
              <a:lnSpc>
                <a:spcPct val="150000"/>
              </a:lnSpc>
              <a:buFont typeface="+mj-lt"/>
              <a:buAutoNum type="arabicPeriod"/>
            </a:pPr>
            <a:r>
              <a:rPr lang="en-US" sz="1400" dirty="0"/>
              <a:t>Lag Feature Engineering</a:t>
            </a:r>
          </a:p>
          <a:p>
            <a:pPr marL="1409700" lvl="2" indent="-342900">
              <a:lnSpc>
                <a:spcPct val="150000"/>
              </a:lnSpc>
              <a:buFont typeface="+mj-lt"/>
              <a:buAutoNum type="arabicPeriod"/>
            </a:pPr>
            <a:r>
              <a:rPr lang="en-US" sz="1400" dirty="0"/>
              <a:t>Rolling Statistics &amp; EWMA</a:t>
            </a:r>
          </a:p>
          <a:p>
            <a:pPr marL="1409700" lvl="2" indent="-342900">
              <a:lnSpc>
                <a:spcPct val="150000"/>
              </a:lnSpc>
              <a:buFont typeface="+mj-lt"/>
              <a:buAutoNum type="arabicPeriod"/>
            </a:pPr>
            <a:r>
              <a:rPr lang="en-US" sz="1400" dirty="0"/>
              <a:t>Cyclical Time Encoding (sine/cosine)</a:t>
            </a:r>
          </a:p>
        </p:txBody>
      </p:sp>
    </p:spTree>
    <p:extLst>
      <p:ext uri="{BB962C8B-B14F-4D97-AF65-F5344CB8AC3E}">
        <p14:creationId xmlns:p14="http://schemas.microsoft.com/office/powerpoint/2010/main" val="358369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85E7B-F84F-1A5B-0DC0-C159C01C6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CDE3B-ACBB-9613-6211-1E2950BCDB5E}"/>
              </a:ext>
            </a:extLst>
          </p:cNvPr>
          <p:cNvSpPr>
            <a:spLocks noGrp="1"/>
          </p:cNvSpPr>
          <p:nvPr>
            <p:ph type="title"/>
          </p:nvPr>
        </p:nvSpPr>
        <p:spPr/>
        <p:txBody>
          <a:bodyPr/>
          <a:lstStyle/>
          <a:p>
            <a:r>
              <a:rPr lang="en-US" dirty="0"/>
              <a:t>Gradient Boosting Models (</a:t>
            </a:r>
            <a:r>
              <a:rPr lang="en-US" dirty="0" err="1"/>
              <a:t>XGBoost</a:t>
            </a:r>
            <a:r>
              <a:rPr lang="en-US" dirty="0"/>
              <a:t>)</a:t>
            </a:r>
          </a:p>
        </p:txBody>
      </p:sp>
      <p:sp>
        <p:nvSpPr>
          <p:cNvPr id="3" name="Text Placeholder 2">
            <a:extLst>
              <a:ext uri="{FF2B5EF4-FFF2-40B4-BE49-F238E27FC236}">
                <a16:creationId xmlns:a16="http://schemas.microsoft.com/office/drawing/2014/main" id="{E9BEA389-A5FC-9B14-3ADB-F8199C02F28F}"/>
              </a:ext>
            </a:extLst>
          </p:cNvPr>
          <p:cNvSpPr>
            <a:spLocks noGrp="1"/>
          </p:cNvSpPr>
          <p:nvPr>
            <p:ph type="body" idx="1"/>
          </p:nvPr>
        </p:nvSpPr>
        <p:spPr/>
        <p:txBody>
          <a:bodyPr/>
          <a:lstStyle/>
          <a:p>
            <a:pPr>
              <a:lnSpc>
                <a:spcPct val="150000"/>
              </a:lnSpc>
            </a:pPr>
            <a:r>
              <a:rPr lang="en-US" sz="1400" b="1" dirty="0" err="1"/>
              <a:t>XGBoost</a:t>
            </a:r>
            <a:r>
              <a:rPr lang="en-US" sz="1400" b="1" dirty="0"/>
              <a:t>:</a:t>
            </a:r>
          </a:p>
          <a:p>
            <a:pPr lvl="1">
              <a:lnSpc>
                <a:spcPct val="150000"/>
              </a:lnSpc>
            </a:pPr>
            <a:r>
              <a:rPr lang="en-US" sz="1400" b="1" dirty="0"/>
              <a:t>Paper's Use:</a:t>
            </a:r>
            <a:endParaRPr lang="en-US" sz="1400" dirty="0"/>
          </a:p>
          <a:p>
            <a:pPr marL="1409700" lvl="2" indent="-342900">
              <a:lnSpc>
                <a:spcPct val="150000"/>
              </a:lnSpc>
              <a:buFont typeface="+mj-lt"/>
              <a:buAutoNum type="arabicPeriod"/>
            </a:pPr>
            <a:r>
              <a:rPr lang="en-US" sz="1400" dirty="0"/>
              <a:t>State-of-the-art baseline</a:t>
            </a:r>
          </a:p>
          <a:p>
            <a:pPr marL="1409700" lvl="2" indent="-342900">
              <a:lnSpc>
                <a:spcPct val="150000"/>
              </a:lnSpc>
              <a:buFont typeface="+mj-lt"/>
              <a:buAutoNum type="arabicPeriod"/>
            </a:pPr>
            <a:r>
              <a:rPr lang="en-US" sz="1400" dirty="0"/>
              <a:t>Handles sparse IoT data well</a:t>
            </a:r>
          </a:p>
          <a:p>
            <a:pPr marL="1409700" lvl="2" indent="-342900">
              <a:lnSpc>
                <a:spcPct val="150000"/>
              </a:lnSpc>
              <a:buFont typeface="+mj-lt"/>
              <a:buAutoNum type="arabicPeriod"/>
            </a:pPr>
            <a:r>
              <a:rPr lang="en-US" sz="1400" dirty="0"/>
              <a:t>Proves deep learning superiority</a:t>
            </a:r>
          </a:p>
          <a:p>
            <a:pPr lvl="1">
              <a:lnSpc>
                <a:spcPct val="150000"/>
              </a:lnSpc>
            </a:pPr>
            <a:r>
              <a:rPr lang="en-US" sz="1400" b="1" dirty="0"/>
              <a:t>My Implementation</a:t>
            </a:r>
            <a:endParaRPr lang="en-US" sz="1400" dirty="0"/>
          </a:p>
          <a:p>
            <a:pPr marL="1409700" lvl="2" indent="-342900">
              <a:lnSpc>
                <a:spcPct val="150000"/>
              </a:lnSpc>
              <a:buFont typeface="+mj-lt"/>
              <a:buAutoNum type="arabicPeriod"/>
            </a:pPr>
            <a:r>
              <a:rPr lang="en-US" sz="1400" dirty="0"/>
              <a:t>Feature Engineering Pipeline</a:t>
            </a:r>
          </a:p>
          <a:p>
            <a:pPr marL="1409700" lvl="2" indent="-342900">
              <a:lnSpc>
                <a:spcPct val="150000"/>
              </a:lnSpc>
              <a:buFont typeface="+mj-lt"/>
              <a:buAutoNum type="arabicPeriod"/>
            </a:pPr>
            <a:r>
              <a:rPr lang="en-US" sz="1400" dirty="0"/>
              <a:t>Regularization Tuning</a:t>
            </a:r>
          </a:p>
          <a:p>
            <a:pPr marL="1409700" lvl="2" indent="-342900">
              <a:lnSpc>
                <a:spcPct val="150000"/>
              </a:lnSpc>
              <a:buFont typeface="+mj-lt"/>
              <a:buAutoNum type="arabicPeriod"/>
            </a:pPr>
            <a:r>
              <a:rPr lang="en-US" sz="1400" dirty="0" err="1"/>
              <a:t>Optuna</a:t>
            </a:r>
            <a:r>
              <a:rPr lang="en-US" sz="1400" dirty="0"/>
              <a:t> Sampler for optimization</a:t>
            </a:r>
          </a:p>
        </p:txBody>
      </p:sp>
    </p:spTree>
    <p:extLst>
      <p:ext uri="{BB962C8B-B14F-4D97-AF65-F5344CB8AC3E}">
        <p14:creationId xmlns:p14="http://schemas.microsoft.com/office/powerpoint/2010/main" val="585496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60092-0C73-70D4-6885-BC905FB1C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7B470-3233-CFB2-EFD0-DDC707B0897B}"/>
              </a:ext>
            </a:extLst>
          </p:cNvPr>
          <p:cNvSpPr>
            <a:spLocks noGrp="1"/>
          </p:cNvSpPr>
          <p:nvPr>
            <p:ph type="title"/>
          </p:nvPr>
        </p:nvSpPr>
        <p:spPr/>
        <p:txBody>
          <a:bodyPr/>
          <a:lstStyle/>
          <a:p>
            <a:r>
              <a:rPr lang="en-US" dirty="0"/>
              <a:t>Gradient Boosting Models (</a:t>
            </a:r>
            <a:r>
              <a:rPr lang="en-US" dirty="0" err="1"/>
              <a:t>CatBoost</a:t>
            </a:r>
            <a:r>
              <a:rPr lang="en-US" dirty="0"/>
              <a:t>)</a:t>
            </a:r>
          </a:p>
        </p:txBody>
      </p:sp>
      <p:sp>
        <p:nvSpPr>
          <p:cNvPr id="3" name="Text Placeholder 2">
            <a:extLst>
              <a:ext uri="{FF2B5EF4-FFF2-40B4-BE49-F238E27FC236}">
                <a16:creationId xmlns:a16="http://schemas.microsoft.com/office/drawing/2014/main" id="{DC82A26F-9B22-1FA6-AA20-D8F3C3625C29}"/>
              </a:ext>
            </a:extLst>
          </p:cNvPr>
          <p:cNvSpPr>
            <a:spLocks noGrp="1"/>
          </p:cNvSpPr>
          <p:nvPr>
            <p:ph type="body" idx="1"/>
          </p:nvPr>
        </p:nvSpPr>
        <p:spPr/>
        <p:txBody>
          <a:bodyPr/>
          <a:lstStyle/>
          <a:p>
            <a:pPr>
              <a:lnSpc>
                <a:spcPct val="150000"/>
              </a:lnSpc>
            </a:pPr>
            <a:r>
              <a:rPr lang="en-US" sz="1400" b="1" dirty="0" err="1"/>
              <a:t>CatBoost</a:t>
            </a:r>
            <a:r>
              <a:rPr lang="en-US" sz="1400" b="1" dirty="0"/>
              <a:t>:</a:t>
            </a:r>
          </a:p>
          <a:p>
            <a:pPr lvl="1">
              <a:lnSpc>
                <a:spcPct val="150000"/>
              </a:lnSpc>
            </a:pPr>
            <a:r>
              <a:rPr lang="en-US" sz="1400" b="1" dirty="0"/>
              <a:t>Paper's Use:</a:t>
            </a:r>
            <a:endParaRPr lang="en-US" sz="1400" dirty="0"/>
          </a:p>
          <a:p>
            <a:pPr marL="1409700" lvl="2" indent="-342900">
              <a:lnSpc>
                <a:spcPct val="150000"/>
              </a:lnSpc>
              <a:buFont typeface="+mj-lt"/>
              <a:buAutoNum type="arabicPeriod"/>
            </a:pPr>
            <a:r>
              <a:rPr lang="en-US" sz="1400" dirty="0"/>
              <a:t>"Ordered Boosting" for categorical features</a:t>
            </a:r>
          </a:p>
          <a:p>
            <a:pPr marL="1409700" lvl="2" indent="-342900">
              <a:lnSpc>
                <a:spcPct val="150000"/>
              </a:lnSpc>
              <a:buFont typeface="+mj-lt"/>
              <a:buAutoNum type="arabicPeriod"/>
            </a:pPr>
            <a:r>
              <a:rPr lang="en-US" sz="1400" dirty="0"/>
              <a:t>Symmetric trees as regularization</a:t>
            </a:r>
          </a:p>
          <a:p>
            <a:pPr marL="1409700" lvl="2" indent="-342900">
              <a:lnSpc>
                <a:spcPct val="150000"/>
              </a:lnSpc>
              <a:buFont typeface="+mj-lt"/>
              <a:buAutoNum type="arabicPeriod"/>
            </a:pPr>
            <a:r>
              <a:rPr lang="en-US" sz="1400" dirty="0"/>
              <a:t>Robust baseline for significance testing</a:t>
            </a:r>
          </a:p>
          <a:p>
            <a:pPr lvl="1">
              <a:lnSpc>
                <a:spcPct val="150000"/>
              </a:lnSpc>
            </a:pPr>
            <a:r>
              <a:rPr lang="en-US" sz="1400" b="1" dirty="0"/>
              <a:t>My Implementation:</a:t>
            </a:r>
            <a:endParaRPr lang="en-US" sz="1400" dirty="0"/>
          </a:p>
          <a:p>
            <a:pPr marL="1409700" lvl="2" indent="-342900">
              <a:lnSpc>
                <a:spcPct val="150000"/>
              </a:lnSpc>
              <a:buFont typeface="+mj-lt"/>
              <a:buAutoNum type="arabicPeriod"/>
            </a:pPr>
            <a:r>
              <a:rPr lang="en-US" sz="1400" dirty="0"/>
              <a:t>Time-Series → Tabular transformation</a:t>
            </a:r>
          </a:p>
          <a:p>
            <a:pPr marL="1409700" lvl="2" indent="-342900">
              <a:lnSpc>
                <a:spcPct val="150000"/>
              </a:lnSpc>
              <a:buFont typeface="+mj-lt"/>
              <a:buAutoNum type="arabicPeriod"/>
            </a:pPr>
            <a:r>
              <a:rPr lang="en-US" sz="1400" dirty="0" err="1"/>
              <a:t>CatBoost</a:t>
            </a:r>
            <a:r>
              <a:rPr lang="en-US" sz="1400" dirty="0"/>
              <a:t>-specific parameter tuning</a:t>
            </a:r>
          </a:p>
          <a:p>
            <a:pPr marL="1409700" lvl="2" indent="-342900">
              <a:lnSpc>
                <a:spcPct val="150000"/>
              </a:lnSpc>
              <a:buFont typeface="+mj-lt"/>
              <a:buAutoNum type="arabicPeriod"/>
            </a:pPr>
            <a:r>
              <a:rPr lang="en-US" sz="1400" dirty="0"/>
              <a:t>Feature Importance insights for lag analysis</a:t>
            </a:r>
          </a:p>
        </p:txBody>
      </p:sp>
    </p:spTree>
    <p:extLst>
      <p:ext uri="{BB962C8B-B14F-4D97-AF65-F5344CB8AC3E}">
        <p14:creationId xmlns:p14="http://schemas.microsoft.com/office/powerpoint/2010/main" val="1736187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DFE05-335A-82AD-6D88-0D7720C25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0BC62-3A7F-23E5-9401-04363016F329}"/>
              </a:ext>
            </a:extLst>
          </p:cNvPr>
          <p:cNvSpPr>
            <a:spLocks noGrp="1"/>
          </p:cNvSpPr>
          <p:nvPr>
            <p:ph type="title"/>
          </p:nvPr>
        </p:nvSpPr>
        <p:spPr>
          <a:xfrm>
            <a:off x="251497" y="2247149"/>
            <a:ext cx="1520280" cy="649200"/>
          </a:xfrm>
        </p:spPr>
        <p:txBody>
          <a:bodyPr/>
          <a:lstStyle/>
          <a:p>
            <a:r>
              <a:rPr lang="en-US" dirty="0"/>
              <a:t>LGBM</a:t>
            </a:r>
          </a:p>
        </p:txBody>
      </p:sp>
      <p:pic>
        <p:nvPicPr>
          <p:cNvPr id="5" name="Picture 4">
            <a:extLst>
              <a:ext uri="{FF2B5EF4-FFF2-40B4-BE49-F238E27FC236}">
                <a16:creationId xmlns:a16="http://schemas.microsoft.com/office/drawing/2014/main" id="{78A75BD8-EE09-674B-1149-D3EB39E84340}"/>
              </a:ext>
            </a:extLst>
          </p:cNvPr>
          <p:cNvPicPr>
            <a:picLocks noChangeAspect="1"/>
          </p:cNvPicPr>
          <p:nvPr/>
        </p:nvPicPr>
        <p:blipFill>
          <a:blip r:embed="rId2"/>
          <a:stretch>
            <a:fillRect/>
          </a:stretch>
        </p:blipFill>
        <p:spPr>
          <a:xfrm>
            <a:off x="1847977" y="83418"/>
            <a:ext cx="6694043" cy="4976663"/>
          </a:xfrm>
          <a:prstGeom prst="rect">
            <a:avLst/>
          </a:prstGeom>
        </p:spPr>
      </p:pic>
    </p:spTree>
    <p:extLst>
      <p:ext uri="{BB962C8B-B14F-4D97-AF65-F5344CB8AC3E}">
        <p14:creationId xmlns:p14="http://schemas.microsoft.com/office/powerpoint/2010/main" val="680771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1B88D-6972-C6AE-419B-7020D98B3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D0F56-3B4C-BEEC-028D-79A37C0ACADA}"/>
              </a:ext>
            </a:extLst>
          </p:cNvPr>
          <p:cNvSpPr>
            <a:spLocks noGrp="1"/>
          </p:cNvSpPr>
          <p:nvPr>
            <p:ph type="title"/>
          </p:nvPr>
        </p:nvSpPr>
        <p:spPr>
          <a:xfrm>
            <a:off x="251497" y="2247149"/>
            <a:ext cx="1520280" cy="649200"/>
          </a:xfrm>
        </p:spPr>
        <p:txBody>
          <a:bodyPr/>
          <a:lstStyle/>
          <a:p>
            <a:r>
              <a:rPr lang="en-US" sz="2400" dirty="0" err="1"/>
              <a:t>XGBoost</a:t>
            </a:r>
            <a:endParaRPr lang="en-US" sz="2400" dirty="0"/>
          </a:p>
        </p:txBody>
      </p:sp>
      <p:pic>
        <p:nvPicPr>
          <p:cNvPr id="4" name="Picture 3">
            <a:extLst>
              <a:ext uri="{FF2B5EF4-FFF2-40B4-BE49-F238E27FC236}">
                <a16:creationId xmlns:a16="http://schemas.microsoft.com/office/drawing/2014/main" id="{AED45F65-65DA-BADD-3EDA-4CA0814270C7}"/>
              </a:ext>
            </a:extLst>
          </p:cNvPr>
          <p:cNvPicPr>
            <a:picLocks noChangeAspect="1"/>
          </p:cNvPicPr>
          <p:nvPr/>
        </p:nvPicPr>
        <p:blipFill>
          <a:blip r:embed="rId2"/>
          <a:stretch>
            <a:fillRect/>
          </a:stretch>
        </p:blipFill>
        <p:spPr>
          <a:xfrm>
            <a:off x="1832737" y="83418"/>
            <a:ext cx="6694043" cy="4976663"/>
          </a:xfrm>
          <a:prstGeom prst="rect">
            <a:avLst/>
          </a:prstGeom>
        </p:spPr>
      </p:pic>
    </p:spTree>
    <p:extLst>
      <p:ext uri="{BB962C8B-B14F-4D97-AF65-F5344CB8AC3E}">
        <p14:creationId xmlns:p14="http://schemas.microsoft.com/office/powerpoint/2010/main" val="3889031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3B5D-2432-86C8-5206-E872E5A10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4CDFC-0437-6FFC-C6E1-0E939325DE07}"/>
              </a:ext>
            </a:extLst>
          </p:cNvPr>
          <p:cNvSpPr>
            <a:spLocks noGrp="1"/>
          </p:cNvSpPr>
          <p:nvPr>
            <p:ph type="title"/>
          </p:nvPr>
        </p:nvSpPr>
        <p:spPr>
          <a:xfrm>
            <a:off x="251497" y="2247149"/>
            <a:ext cx="1520280" cy="649200"/>
          </a:xfrm>
        </p:spPr>
        <p:txBody>
          <a:bodyPr/>
          <a:lstStyle/>
          <a:p>
            <a:r>
              <a:rPr lang="en-US" sz="2400" dirty="0" err="1"/>
              <a:t>CatBoost</a:t>
            </a:r>
            <a:endParaRPr lang="en-US" sz="2400" dirty="0"/>
          </a:p>
        </p:txBody>
      </p:sp>
      <p:pic>
        <p:nvPicPr>
          <p:cNvPr id="4" name="Picture 3">
            <a:extLst>
              <a:ext uri="{FF2B5EF4-FFF2-40B4-BE49-F238E27FC236}">
                <a16:creationId xmlns:a16="http://schemas.microsoft.com/office/drawing/2014/main" id="{642FFCC3-9610-92A9-06DA-3A64EC2A0F0F}"/>
              </a:ext>
            </a:extLst>
          </p:cNvPr>
          <p:cNvPicPr>
            <a:picLocks noChangeAspect="1"/>
          </p:cNvPicPr>
          <p:nvPr/>
        </p:nvPicPr>
        <p:blipFill>
          <a:blip r:embed="rId2"/>
          <a:stretch>
            <a:fillRect/>
          </a:stretch>
        </p:blipFill>
        <p:spPr>
          <a:xfrm>
            <a:off x="1840357" y="83418"/>
            <a:ext cx="6694043" cy="4976663"/>
          </a:xfrm>
          <a:prstGeom prst="rect">
            <a:avLst/>
          </a:prstGeom>
        </p:spPr>
      </p:pic>
    </p:spTree>
    <p:extLst>
      <p:ext uri="{BB962C8B-B14F-4D97-AF65-F5344CB8AC3E}">
        <p14:creationId xmlns:p14="http://schemas.microsoft.com/office/powerpoint/2010/main" val="3941168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6094B-75AB-F76A-DC4F-766087756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1F826-555E-8B8C-3949-AC4A653E1A43}"/>
              </a:ext>
            </a:extLst>
          </p:cNvPr>
          <p:cNvSpPr>
            <a:spLocks noGrp="1"/>
          </p:cNvSpPr>
          <p:nvPr>
            <p:ph type="title"/>
          </p:nvPr>
        </p:nvSpPr>
        <p:spPr/>
        <p:txBody>
          <a:bodyPr/>
          <a:lstStyle/>
          <a:p>
            <a:pPr algn="ctr"/>
            <a:r>
              <a:rPr lang="en-US" dirty="0"/>
              <a:t>Performance Comparison</a:t>
            </a:r>
          </a:p>
        </p:txBody>
      </p:sp>
      <p:sp>
        <p:nvSpPr>
          <p:cNvPr id="3" name="Text Placeholder 2">
            <a:extLst>
              <a:ext uri="{FF2B5EF4-FFF2-40B4-BE49-F238E27FC236}">
                <a16:creationId xmlns:a16="http://schemas.microsoft.com/office/drawing/2014/main" id="{AB51F53D-8AE4-A71B-E467-E8E55450461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A47DA60-AD6D-5390-8ADC-E82D7EC3524D}"/>
              </a:ext>
            </a:extLst>
          </p:cNvPr>
          <p:cNvPicPr>
            <a:picLocks noChangeAspect="1"/>
          </p:cNvPicPr>
          <p:nvPr/>
        </p:nvPicPr>
        <p:blipFill>
          <a:blip r:embed="rId2"/>
          <a:stretch>
            <a:fillRect/>
          </a:stretch>
        </p:blipFill>
        <p:spPr>
          <a:xfrm>
            <a:off x="1234380" y="1094211"/>
            <a:ext cx="6675239" cy="3817620"/>
          </a:xfrm>
          <a:prstGeom prst="rect">
            <a:avLst/>
          </a:prstGeom>
        </p:spPr>
      </p:pic>
    </p:spTree>
    <p:extLst>
      <p:ext uri="{BB962C8B-B14F-4D97-AF65-F5344CB8AC3E}">
        <p14:creationId xmlns:p14="http://schemas.microsoft.com/office/powerpoint/2010/main" val="1081273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8049-F45D-9890-8014-E65C32A0A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52BD0-AD63-7A45-6E36-C1EACDF1C246}"/>
              </a:ext>
            </a:extLst>
          </p:cNvPr>
          <p:cNvSpPr>
            <a:spLocks noGrp="1"/>
          </p:cNvSpPr>
          <p:nvPr>
            <p:ph type="title"/>
          </p:nvPr>
        </p:nvSpPr>
        <p:spPr/>
        <p:txBody>
          <a:bodyPr/>
          <a:lstStyle/>
          <a:p>
            <a:pPr algn="ctr"/>
            <a:r>
              <a:rPr lang="en-US" dirty="0"/>
              <a:t>Performance Table</a:t>
            </a:r>
          </a:p>
        </p:txBody>
      </p:sp>
      <p:sp>
        <p:nvSpPr>
          <p:cNvPr id="3" name="Text Placeholder 2">
            <a:extLst>
              <a:ext uri="{FF2B5EF4-FFF2-40B4-BE49-F238E27FC236}">
                <a16:creationId xmlns:a16="http://schemas.microsoft.com/office/drawing/2014/main" id="{E9D0D4F6-E14D-C267-F3D6-299054348E24}"/>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391A1DAC-11BC-4B49-7E62-DE04E02DB56B}"/>
              </a:ext>
            </a:extLst>
          </p:cNvPr>
          <p:cNvPicPr>
            <a:picLocks noChangeAspect="1"/>
          </p:cNvPicPr>
          <p:nvPr/>
        </p:nvPicPr>
        <p:blipFill>
          <a:blip r:embed="rId2"/>
          <a:stretch>
            <a:fillRect/>
          </a:stretch>
        </p:blipFill>
        <p:spPr>
          <a:xfrm>
            <a:off x="880110" y="1385709"/>
            <a:ext cx="7383779" cy="2926703"/>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400C6757-8A50-20D1-92D6-5C8CF4A94318}"/>
                  </a:ext>
                </a:extLst>
              </p14:cNvPr>
              <p14:cNvContentPartPr/>
              <p14:nvPr/>
            </p14:nvContentPartPr>
            <p14:xfrm>
              <a:off x="6253000" y="2961080"/>
              <a:ext cx="218880" cy="5400"/>
            </p14:xfrm>
          </p:contentPart>
        </mc:Choice>
        <mc:Fallback xmlns="">
          <p:pic>
            <p:nvPicPr>
              <p:cNvPr id="9" name="Ink 8">
                <a:extLst>
                  <a:ext uri="{FF2B5EF4-FFF2-40B4-BE49-F238E27FC236}">
                    <a16:creationId xmlns:a16="http://schemas.microsoft.com/office/drawing/2014/main" id="{400C6757-8A50-20D1-92D6-5C8CF4A94318}"/>
                  </a:ext>
                </a:extLst>
              </p:cNvPr>
              <p:cNvPicPr/>
              <p:nvPr/>
            </p:nvPicPr>
            <p:blipFill>
              <a:blip r:embed="rId4"/>
              <a:stretch>
                <a:fillRect/>
              </a:stretch>
            </p:blipFill>
            <p:spPr>
              <a:xfrm>
                <a:off x="6217360" y="2889440"/>
                <a:ext cx="29052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493051EF-F02F-6A82-48FA-55DA9A5B693E}"/>
                  </a:ext>
                </a:extLst>
              </p14:cNvPr>
              <p14:cNvContentPartPr/>
              <p14:nvPr/>
            </p14:nvContentPartPr>
            <p14:xfrm>
              <a:off x="7497880" y="2951000"/>
              <a:ext cx="213840" cy="5400"/>
            </p14:xfrm>
          </p:contentPart>
        </mc:Choice>
        <mc:Fallback xmlns="">
          <p:pic>
            <p:nvPicPr>
              <p:cNvPr id="12" name="Ink 11">
                <a:extLst>
                  <a:ext uri="{FF2B5EF4-FFF2-40B4-BE49-F238E27FC236}">
                    <a16:creationId xmlns:a16="http://schemas.microsoft.com/office/drawing/2014/main" id="{493051EF-F02F-6A82-48FA-55DA9A5B693E}"/>
                  </a:ext>
                </a:extLst>
              </p:cNvPr>
              <p:cNvPicPr/>
              <p:nvPr/>
            </p:nvPicPr>
            <p:blipFill>
              <a:blip r:embed="rId6"/>
              <a:stretch>
                <a:fillRect/>
              </a:stretch>
            </p:blipFill>
            <p:spPr>
              <a:xfrm>
                <a:off x="7461880" y="2879360"/>
                <a:ext cx="285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CA8720AD-8A73-AEAA-3A06-58A135E84304}"/>
                  </a:ext>
                </a:extLst>
              </p14:cNvPr>
              <p14:cNvContentPartPr/>
              <p14:nvPr/>
            </p14:nvContentPartPr>
            <p14:xfrm>
              <a:off x="4942240" y="2966480"/>
              <a:ext cx="371520" cy="20880"/>
            </p14:xfrm>
          </p:contentPart>
        </mc:Choice>
        <mc:Fallback xmlns="">
          <p:pic>
            <p:nvPicPr>
              <p:cNvPr id="13" name="Ink 12">
                <a:extLst>
                  <a:ext uri="{FF2B5EF4-FFF2-40B4-BE49-F238E27FC236}">
                    <a16:creationId xmlns:a16="http://schemas.microsoft.com/office/drawing/2014/main" id="{CA8720AD-8A73-AEAA-3A06-58A135E84304}"/>
                  </a:ext>
                </a:extLst>
              </p:cNvPr>
              <p:cNvPicPr/>
              <p:nvPr/>
            </p:nvPicPr>
            <p:blipFill>
              <a:blip r:embed="rId8"/>
              <a:stretch>
                <a:fillRect/>
              </a:stretch>
            </p:blipFill>
            <p:spPr>
              <a:xfrm>
                <a:off x="4906240" y="2894480"/>
                <a:ext cx="4431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411884F8-ABAF-8B5B-2286-4AED8C1F1396}"/>
                  </a:ext>
                </a:extLst>
              </p14:cNvPr>
              <p14:cNvContentPartPr/>
              <p14:nvPr/>
            </p14:nvContentPartPr>
            <p14:xfrm>
              <a:off x="3734080" y="2971160"/>
              <a:ext cx="284400" cy="6480"/>
            </p14:xfrm>
          </p:contentPart>
        </mc:Choice>
        <mc:Fallback xmlns="">
          <p:pic>
            <p:nvPicPr>
              <p:cNvPr id="14" name="Ink 13">
                <a:extLst>
                  <a:ext uri="{FF2B5EF4-FFF2-40B4-BE49-F238E27FC236}">
                    <a16:creationId xmlns:a16="http://schemas.microsoft.com/office/drawing/2014/main" id="{411884F8-ABAF-8B5B-2286-4AED8C1F1396}"/>
                  </a:ext>
                </a:extLst>
              </p:cNvPr>
              <p:cNvPicPr/>
              <p:nvPr/>
            </p:nvPicPr>
            <p:blipFill>
              <a:blip r:embed="rId10"/>
              <a:stretch>
                <a:fillRect/>
              </a:stretch>
            </p:blipFill>
            <p:spPr>
              <a:xfrm>
                <a:off x="3698440" y="2899160"/>
                <a:ext cx="3560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0B0C1F51-2085-8C98-13A2-D859D60E0B8C}"/>
                  </a:ext>
                </a:extLst>
              </p14:cNvPr>
              <p14:cNvContentPartPr/>
              <p14:nvPr/>
            </p14:nvContentPartPr>
            <p14:xfrm>
              <a:off x="2420440" y="2939840"/>
              <a:ext cx="439920" cy="23760"/>
            </p14:xfrm>
          </p:contentPart>
        </mc:Choice>
        <mc:Fallback xmlns="">
          <p:pic>
            <p:nvPicPr>
              <p:cNvPr id="15" name="Ink 14">
                <a:extLst>
                  <a:ext uri="{FF2B5EF4-FFF2-40B4-BE49-F238E27FC236}">
                    <a16:creationId xmlns:a16="http://schemas.microsoft.com/office/drawing/2014/main" id="{0B0C1F51-2085-8C98-13A2-D859D60E0B8C}"/>
                  </a:ext>
                </a:extLst>
              </p:cNvPr>
              <p:cNvPicPr/>
              <p:nvPr/>
            </p:nvPicPr>
            <p:blipFill>
              <a:blip r:embed="rId12"/>
              <a:stretch>
                <a:fillRect/>
              </a:stretch>
            </p:blipFill>
            <p:spPr>
              <a:xfrm>
                <a:off x="2384800" y="2868200"/>
                <a:ext cx="511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F45076F2-41C8-D019-18DC-14495CF4E30D}"/>
                  </a:ext>
                </a:extLst>
              </p14:cNvPr>
              <p14:cNvContentPartPr/>
              <p14:nvPr/>
            </p14:nvContentPartPr>
            <p14:xfrm>
              <a:off x="1224520" y="2956000"/>
              <a:ext cx="538200" cy="12240"/>
            </p14:xfrm>
          </p:contentPart>
        </mc:Choice>
        <mc:Fallback xmlns="">
          <p:pic>
            <p:nvPicPr>
              <p:cNvPr id="16" name="Ink 15">
                <a:extLst>
                  <a:ext uri="{FF2B5EF4-FFF2-40B4-BE49-F238E27FC236}">
                    <a16:creationId xmlns:a16="http://schemas.microsoft.com/office/drawing/2014/main" id="{F45076F2-41C8-D019-18DC-14495CF4E30D}"/>
                  </a:ext>
                </a:extLst>
              </p:cNvPr>
              <p:cNvPicPr/>
              <p:nvPr/>
            </p:nvPicPr>
            <p:blipFill>
              <a:blip r:embed="rId14"/>
              <a:stretch>
                <a:fillRect/>
              </a:stretch>
            </p:blipFill>
            <p:spPr>
              <a:xfrm>
                <a:off x="1188880" y="2884000"/>
                <a:ext cx="6098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DFB4E1C7-456B-99BA-9E42-41690E5663B9}"/>
                  </a:ext>
                </a:extLst>
              </p14:cNvPr>
              <p14:cNvContentPartPr/>
              <p14:nvPr/>
            </p14:nvContentPartPr>
            <p14:xfrm>
              <a:off x="11928" y="1365600"/>
              <a:ext cx="360" cy="360"/>
            </p14:xfrm>
          </p:contentPart>
        </mc:Choice>
        <mc:Fallback xmlns="">
          <p:pic>
            <p:nvPicPr>
              <p:cNvPr id="17" name="Ink 16">
                <a:extLst>
                  <a:ext uri="{FF2B5EF4-FFF2-40B4-BE49-F238E27FC236}">
                    <a16:creationId xmlns:a16="http://schemas.microsoft.com/office/drawing/2014/main" id="{DFB4E1C7-456B-99BA-9E42-41690E5663B9}"/>
                  </a:ext>
                </a:extLst>
              </p:cNvPr>
              <p:cNvPicPr/>
              <p:nvPr/>
            </p:nvPicPr>
            <p:blipFill>
              <a:blip r:embed="rId16"/>
              <a:stretch>
                <a:fillRect/>
              </a:stretch>
            </p:blipFill>
            <p:spPr>
              <a:xfrm>
                <a:off x="-23712" y="1293600"/>
                <a:ext cx="72000" cy="144000"/>
              </a:xfrm>
              <a:prstGeom prst="rect">
                <a:avLst/>
              </a:prstGeom>
            </p:spPr>
          </p:pic>
        </mc:Fallback>
      </mc:AlternateContent>
    </p:spTree>
    <p:extLst>
      <p:ext uri="{BB962C8B-B14F-4D97-AF65-F5344CB8AC3E}">
        <p14:creationId xmlns:p14="http://schemas.microsoft.com/office/powerpoint/2010/main" val="2315317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88B58-579A-3B66-681C-D0F45DDA4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8DA3F-F88C-6ACD-4CE5-861E5B44262E}"/>
              </a:ext>
            </a:extLst>
          </p:cNvPr>
          <p:cNvSpPr>
            <a:spLocks noGrp="1"/>
          </p:cNvSpPr>
          <p:nvPr>
            <p:ph type="title"/>
          </p:nvPr>
        </p:nvSpPr>
        <p:spPr/>
        <p:txBody>
          <a:bodyPr/>
          <a:lstStyle/>
          <a:p>
            <a:r>
              <a:rPr lang="en-US" dirty="0"/>
              <a:t>Key Questions</a:t>
            </a:r>
          </a:p>
        </p:txBody>
      </p:sp>
      <p:sp>
        <p:nvSpPr>
          <p:cNvPr id="3" name="Text Placeholder 2">
            <a:extLst>
              <a:ext uri="{FF2B5EF4-FFF2-40B4-BE49-F238E27FC236}">
                <a16:creationId xmlns:a16="http://schemas.microsoft.com/office/drawing/2014/main" id="{33948303-14C7-EE5E-187C-782CC95420FE}"/>
              </a:ext>
            </a:extLst>
          </p:cNvPr>
          <p:cNvSpPr>
            <a:spLocks noGrp="1"/>
          </p:cNvSpPr>
          <p:nvPr>
            <p:ph type="body" idx="1"/>
          </p:nvPr>
        </p:nvSpPr>
        <p:spPr/>
        <p:txBody>
          <a:bodyPr/>
          <a:lstStyle/>
          <a:p>
            <a:pPr marL="495300" indent="-342900">
              <a:lnSpc>
                <a:spcPct val="150000"/>
              </a:lnSpc>
              <a:buFont typeface="+mj-lt"/>
              <a:buAutoNum type="arabicPeriod"/>
            </a:pPr>
            <a:r>
              <a:rPr lang="en-US" sz="1400" b="1" dirty="0"/>
              <a:t>Our GB implementations consistently outperform published results across all metrics. But why? </a:t>
            </a:r>
          </a:p>
          <a:p>
            <a:pPr lvl="1"/>
            <a:r>
              <a:rPr lang="en-US" sz="1400" dirty="0"/>
              <a:t>GB models are exceptionally efficient at handling tabular data with clear "if-then" logic. Because I implemented sophisticated </a:t>
            </a:r>
            <a:r>
              <a:rPr lang="en-US" sz="1400" b="1" dirty="0"/>
              <a:t>Feature Engineering</a:t>
            </a:r>
            <a:r>
              <a:rPr lang="en-US" sz="1400" dirty="0"/>
              <a:t> (Lags and Rolling Statistics), I essentially provided the GB models with the "answers" that the CNN was trying to learn from scratch. In datasets of this size, explicit feature engineering often rivals or beats automatic feature extraction.</a:t>
            </a:r>
          </a:p>
          <a:p>
            <a:pPr lvl="1"/>
            <a:endParaRPr lang="en-US" sz="1400" dirty="0">
              <a:sym typeface="Wingdings" panose="05000000000000000000" pitchFamily="2" charset="2"/>
            </a:endParaRPr>
          </a:p>
          <a:p>
            <a:pPr marL="495300" indent="-342900">
              <a:lnSpc>
                <a:spcPct val="150000"/>
              </a:lnSpc>
              <a:buFont typeface="+mj-lt"/>
              <a:buAutoNum type="arabicPeriod"/>
            </a:pPr>
            <a:r>
              <a:rPr lang="en-US" sz="1400" b="1" dirty="0"/>
              <a:t>Why is the integration of IoT data critical for modern building energy management systems?</a:t>
            </a:r>
          </a:p>
          <a:p>
            <a:pPr lvl="1"/>
            <a:r>
              <a:rPr lang="en-US" sz="1400" dirty="0"/>
              <a:t>Traditional energy models often rely on aggregate utility data, which lacks granularity. IoT sensors provide high-frequency, real-time data at the device or floor level, moving from general estimation to individualized prediction.</a:t>
            </a:r>
            <a:endParaRPr lang="en-US" sz="1400" b="1" dirty="0">
              <a:sym typeface="Wingdings" panose="05000000000000000000" pitchFamily="2" charset="2"/>
            </a:endParaRPr>
          </a:p>
          <a:p>
            <a:pPr lvl="1"/>
            <a:endParaRPr lang="en-US" sz="1400" dirty="0">
              <a:sym typeface="Wingdings" panose="05000000000000000000" pitchFamily="2" charset="2"/>
            </a:endParaRPr>
          </a:p>
          <a:p>
            <a:pPr>
              <a:lnSpc>
                <a:spcPct val="150000"/>
              </a:lnSpc>
            </a:pPr>
            <a:endParaRPr lang="en-US" sz="1400" dirty="0"/>
          </a:p>
        </p:txBody>
      </p:sp>
    </p:spTree>
    <p:extLst>
      <p:ext uri="{BB962C8B-B14F-4D97-AF65-F5344CB8AC3E}">
        <p14:creationId xmlns:p14="http://schemas.microsoft.com/office/powerpoint/2010/main" val="2019578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FDA5-EE96-5E6A-5C25-ECC67EC24E34}"/>
              </a:ext>
            </a:extLst>
          </p:cNvPr>
          <p:cNvSpPr>
            <a:spLocks noGrp="1"/>
          </p:cNvSpPr>
          <p:nvPr>
            <p:ph type="title"/>
          </p:nvPr>
        </p:nvSpPr>
        <p:spPr/>
        <p:txBody>
          <a:bodyPr/>
          <a:lstStyle/>
          <a:p>
            <a:r>
              <a:rPr lang="en-US" dirty="0"/>
              <a:t>Key Questions (cont.)</a:t>
            </a:r>
          </a:p>
        </p:txBody>
      </p:sp>
      <p:sp>
        <p:nvSpPr>
          <p:cNvPr id="3" name="Text Placeholder 2">
            <a:extLst>
              <a:ext uri="{FF2B5EF4-FFF2-40B4-BE49-F238E27FC236}">
                <a16:creationId xmlns:a16="http://schemas.microsoft.com/office/drawing/2014/main" id="{AA5ECA80-019A-199E-B1D5-B7ECDE58D72C}"/>
              </a:ext>
            </a:extLst>
          </p:cNvPr>
          <p:cNvSpPr>
            <a:spLocks noGrp="1"/>
          </p:cNvSpPr>
          <p:nvPr>
            <p:ph type="body" idx="1"/>
          </p:nvPr>
        </p:nvSpPr>
        <p:spPr/>
        <p:txBody>
          <a:bodyPr/>
          <a:lstStyle/>
          <a:p>
            <a:pPr>
              <a:lnSpc>
                <a:spcPct val="150000"/>
              </a:lnSpc>
              <a:buFont typeface="+mj-lt"/>
              <a:buAutoNum type="arabicPeriod" startAt="3"/>
            </a:pPr>
            <a:r>
              <a:rPr lang="en-US" sz="1400" b="1" dirty="0"/>
              <a:t>What is the main takeaway regarding model selection for energy forecasting?</a:t>
            </a:r>
          </a:p>
          <a:p>
            <a:pPr lvl="1"/>
            <a:r>
              <a:rPr lang="en-US" sz="1400" dirty="0"/>
              <a:t>While the CNN-BiLSTM is superior to basic NNs, best model depends on the available computational resources and feature engineering. if you are dealing with raw, unstructured IoT streams, the </a:t>
            </a:r>
            <a:r>
              <a:rPr lang="en-US" sz="1400" b="1" dirty="0"/>
              <a:t>Proposed</a:t>
            </a:r>
            <a:r>
              <a:rPr lang="en-US" sz="1400" dirty="0"/>
              <a:t> </a:t>
            </a:r>
            <a:r>
              <a:rPr lang="en-US" sz="1400" b="1" dirty="0"/>
              <a:t>Hybrid CNN-BiLSTM</a:t>
            </a:r>
            <a:r>
              <a:rPr lang="en-US" sz="1400" dirty="0"/>
              <a:t> is the most robust path forward for automated, scalable forecasting.</a:t>
            </a:r>
          </a:p>
          <a:p>
            <a:pPr lvl="1"/>
            <a:endParaRPr lang="en-US" sz="1400" b="1" dirty="0"/>
          </a:p>
          <a:p>
            <a:pPr>
              <a:lnSpc>
                <a:spcPct val="150000"/>
              </a:lnSpc>
              <a:buFont typeface="+mj-lt"/>
              <a:buAutoNum type="arabicPeriod" startAt="3"/>
            </a:pPr>
            <a:r>
              <a:rPr lang="en-US" sz="1400" b="1" dirty="0"/>
              <a:t>Why did the Hybrid CNN-BiLSTM scale better with longer sequences (12 months) compared to standalone models?</a:t>
            </a:r>
          </a:p>
          <a:p>
            <a:pPr lvl="1"/>
            <a:r>
              <a:rPr lang="en-US" sz="1400" dirty="0"/>
              <a:t>Standalone LSTMs often suffer from catastrophic forgetting or signal noise when the input window is too large. In my results, the CNN layers effectively compressed the 12-month data into meaningful feature maps. This simplified the </a:t>
            </a:r>
            <a:r>
              <a:rPr lang="en-US" sz="1400" dirty="0" err="1"/>
              <a:t>BiLSTM’s</a:t>
            </a:r>
            <a:r>
              <a:rPr lang="en-US" sz="1400" dirty="0"/>
              <a:t> job, allowing it to capture annual seasonality without being overwhelmed by 365 days of raw, noisy data points.</a:t>
            </a:r>
            <a:endParaRPr lang="en-US" sz="1400" b="1" dirty="0"/>
          </a:p>
          <a:p>
            <a:pPr>
              <a:lnSpc>
                <a:spcPct val="150000"/>
              </a:lnSpc>
              <a:buFont typeface="+mj-lt"/>
              <a:buAutoNum type="arabicPeriod"/>
            </a:pPr>
            <a:endParaRPr lang="en-US" sz="1400" dirty="0"/>
          </a:p>
        </p:txBody>
      </p:sp>
    </p:spTree>
    <p:extLst>
      <p:ext uri="{BB962C8B-B14F-4D97-AF65-F5344CB8AC3E}">
        <p14:creationId xmlns:p14="http://schemas.microsoft.com/office/powerpoint/2010/main" val="1815237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238C1-3B11-399D-98A1-BE2D0638A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93BC3-E629-9955-95D4-4029957A414D}"/>
              </a:ext>
            </a:extLst>
          </p:cNvPr>
          <p:cNvSpPr>
            <a:spLocks noGrp="1"/>
          </p:cNvSpPr>
          <p:nvPr>
            <p:ph type="title"/>
          </p:nvPr>
        </p:nvSpPr>
        <p:spPr/>
        <p:txBody>
          <a:bodyPr/>
          <a:lstStyle/>
          <a:p>
            <a:r>
              <a:rPr lang="en-US" dirty="0"/>
              <a:t>Key Questions (cont.)</a:t>
            </a:r>
          </a:p>
        </p:txBody>
      </p:sp>
      <p:sp>
        <p:nvSpPr>
          <p:cNvPr id="3" name="Text Placeholder 2">
            <a:extLst>
              <a:ext uri="{FF2B5EF4-FFF2-40B4-BE49-F238E27FC236}">
                <a16:creationId xmlns:a16="http://schemas.microsoft.com/office/drawing/2014/main" id="{C67F5C5C-18C3-FC42-7EF9-28A990E276C4}"/>
              </a:ext>
            </a:extLst>
          </p:cNvPr>
          <p:cNvSpPr>
            <a:spLocks noGrp="1"/>
          </p:cNvSpPr>
          <p:nvPr>
            <p:ph type="body" idx="1"/>
          </p:nvPr>
        </p:nvSpPr>
        <p:spPr/>
        <p:txBody>
          <a:bodyPr/>
          <a:lstStyle/>
          <a:p>
            <a:pPr marL="495300" indent="-342900">
              <a:lnSpc>
                <a:spcPct val="150000"/>
              </a:lnSpc>
              <a:buFont typeface="+mj-lt"/>
              <a:buAutoNum type="arabicPeriod" startAt="5"/>
            </a:pPr>
            <a:endParaRPr lang="en-US" sz="1400" b="1" dirty="0"/>
          </a:p>
          <a:p>
            <a:pPr marL="495300" indent="-342900">
              <a:lnSpc>
                <a:spcPct val="150000"/>
              </a:lnSpc>
              <a:buFont typeface="+mj-lt"/>
              <a:buAutoNum type="arabicPeriod" startAt="5"/>
            </a:pPr>
            <a:r>
              <a:rPr lang="en-US" sz="1400" b="1" dirty="0"/>
              <a:t>What do we conclude regarding the relationship between "prediction accuracy" and "global sustainability goals"?</a:t>
            </a:r>
          </a:p>
          <a:p>
            <a:pPr marL="495300" indent="-342900">
              <a:lnSpc>
                <a:spcPct val="150000"/>
              </a:lnSpc>
              <a:buFont typeface="+mj-lt"/>
              <a:buAutoNum type="arabicPeriod" startAt="5"/>
            </a:pPr>
            <a:endParaRPr lang="en-US" sz="1400" b="1" dirty="0"/>
          </a:p>
          <a:p>
            <a:pPr lvl="1"/>
            <a:r>
              <a:rPr lang="en-US" sz="1400" dirty="0"/>
              <a:t>The paper argues that accuracy is not just a technical metric but a sustainability tool. Accurate forecasting allows for the integration of renewable energy sources (which are intermittent) into the grid. By knowing exactly how much energy a building will need, we can reduce the reliance on "</a:t>
            </a:r>
            <a:r>
              <a:rPr lang="en-US" sz="1400" dirty="0" err="1"/>
              <a:t>peaker</a:t>
            </a:r>
            <a:r>
              <a:rPr lang="en-US" sz="1400" dirty="0"/>
              <a:t>" power plants (which are often high-emission) and minimize energy waste, directly contributing to carbon reduction.</a:t>
            </a:r>
            <a:endParaRPr lang="en-US" sz="1400" b="1" dirty="0"/>
          </a:p>
        </p:txBody>
      </p:sp>
    </p:spTree>
    <p:extLst>
      <p:ext uri="{BB962C8B-B14F-4D97-AF65-F5344CB8AC3E}">
        <p14:creationId xmlns:p14="http://schemas.microsoft.com/office/powerpoint/2010/main" val="1044658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0"/>
          <p:cNvSpPr txBox="1">
            <a:spLocks noGrp="1"/>
          </p:cNvSpPr>
          <p:nvPr>
            <p:ph type="title"/>
          </p:nvPr>
        </p:nvSpPr>
        <p:spPr>
          <a:xfrm>
            <a:off x="2099100" y="1463550"/>
            <a:ext cx="4945800" cy="110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656" name="Google Shape;656;p50"/>
          <p:cNvSpPr txBox="1">
            <a:spLocks noGrp="1"/>
          </p:cNvSpPr>
          <p:nvPr>
            <p:ph type="subTitle" idx="1"/>
          </p:nvPr>
        </p:nvSpPr>
        <p:spPr>
          <a:xfrm>
            <a:off x="2347950" y="2864950"/>
            <a:ext cx="4448100" cy="116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accent2"/>
                </a:solidFill>
              </a:rPr>
              <a:t>Any Questions ?</a:t>
            </a:r>
            <a:endParaRPr dirty="0"/>
          </a:p>
        </p:txBody>
      </p:sp>
      <p:cxnSp>
        <p:nvCxnSpPr>
          <p:cNvPr id="658" name="Google Shape;658;p50"/>
          <p:cNvCxnSpPr/>
          <p:nvPr/>
        </p:nvCxnSpPr>
        <p:spPr>
          <a:xfrm>
            <a:off x="2932050" y="2686600"/>
            <a:ext cx="3279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Dark Gradient Pitch Deck by Slidesgo">
  <a:themeElements>
    <a:clrScheme name="Simple Light">
      <a:dk1>
        <a:srgbClr val="FFFFFF"/>
      </a:dk1>
      <a:lt1>
        <a:srgbClr val="191919"/>
      </a:lt1>
      <a:dk2>
        <a:srgbClr val="0044B8"/>
      </a:dk2>
      <a:lt2>
        <a:srgbClr val="00B47E"/>
      </a:lt2>
      <a:accent1>
        <a:srgbClr val="88AFF1"/>
      </a:accent1>
      <a:accent2>
        <a:srgbClr val="B6DED1"/>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1459</Words>
  <Application>Microsoft Office PowerPoint</Application>
  <PresentationFormat>On-screen Show (16:9)</PresentationFormat>
  <Paragraphs>172</Paragraphs>
  <Slides>33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Wingdings</vt:lpstr>
      <vt:lpstr>Raleway</vt:lpstr>
      <vt:lpstr>Inter</vt:lpstr>
      <vt:lpstr>Raleway Light</vt:lpstr>
      <vt:lpstr>Nunito Light</vt:lpstr>
      <vt:lpstr>Arial</vt:lpstr>
      <vt:lpstr>Dark Gradient Pitch Deck by Slidesgo</vt:lpstr>
      <vt:lpstr>Enhancing Building Energy Efficiency with IoT-Driven Hybrid Deep Learning Models for Accurate Energy Consumption Prediction</vt:lpstr>
      <vt:lpstr>Dataset and Preprocessing </vt:lpstr>
      <vt:lpstr>Dataset EDA</vt:lpstr>
      <vt:lpstr>Paper’s Claims</vt:lpstr>
      <vt:lpstr>Performance Metrics</vt:lpstr>
      <vt:lpstr>Paper’s Findings</vt:lpstr>
      <vt:lpstr>Paper’s Findings (cont.)</vt:lpstr>
      <vt:lpstr>Phase 2 &amp; 3 Roadmap</vt:lpstr>
      <vt:lpstr>Standalone CNN: 1D-CNN   </vt:lpstr>
      <vt:lpstr>Standalone CNN: Implementation  </vt:lpstr>
      <vt:lpstr>Standalone CNN: 1D-CNN (cont.)  </vt:lpstr>
      <vt:lpstr>Standalone CNN: 1D-CNN (cont.)  </vt:lpstr>
      <vt:lpstr>Standalone BiLSTM  </vt:lpstr>
      <vt:lpstr>Standalone BiLSTM: Implementation  </vt:lpstr>
      <vt:lpstr>Standalone BiLSTM (cont.)  </vt:lpstr>
      <vt:lpstr>Standalone BiLSTM (cont.)  </vt:lpstr>
      <vt:lpstr>Proposed CNN-BiLSTM</vt:lpstr>
      <vt:lpstr>Proposed CNN-BiLSTM: Implementation</vt:lpstr>
      <vt:lpstr>Proposed CNN-BiLSTM (cont.)</vt:lpstr>
      <vt:lpstr>CNN-BiLSTM (cont.)  </vt:lpstr>
      <vt:lpstr>CNN-BiLSTM vs Standalone Models  </vt:lpstr>
      <vt:lpstr>Gradient Boosting Models (LGBM)</vt:lpstr>
      <vt:lpstr>Gradient Boosting Models (XGBoost)</vt:lpstr>
      <vt:lpstr>Gradient Boosting Models (CatBoost)</vt:lpstr>
      <vt:lpstr>LGBM</vt:lpstr>
      <vt:lpstr>XGBoost</vt:lpstr>
      <vt:lpstr>CatBoost</vt:lpstr>
      <vt:lpstr>Performance Comparison</vt:lpstr>
      <vt:lpstr>Performance Table</vt:lpstr>
      <vt:lpstr>Key Questions</vt:lpstr>
      <vt:lpstr>Key Questions (cont.)</vt:lpstr>
      <vt:lpstr>Key Questions (cont.)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Mahan</dc:creator>
  <cp:lastModifiedBy>mahan bayhaghi</cp:lastModifiedBy>
  <cp:revision>160</cp:revision>
  <dcterms:modified xsi:type="dcterms:W3CDTF">2026-02-20T06:36:19Z</dcterms:modified>
</cp:coreProperties>
</file>